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rompt Bold" charset="1" panose="00000800000000000000"/>
      <p:regular r:id="rId23"/>
    </p:embeddedFont>
    <p:embeddedFont>
      <p:font typeface="Poppins Bold" charset="1" panose="00000800000000000000"/>
      <p:regular r:id="rId24"/>
    </p:embeddedFont>
    <p:embeddedFont>
      <p:font typeface="Inter Bold" charset="1" panose="02000503000000020004"/>
      <p:regular r:id="rId25"/>
    </p:embeddedFont>
    <p:embeddedFont>
      <p:font typeface="Inter" charset="1" panose="02000503000000020004"/>
      <p:regular r:id="rId26"/>
    </p:embeddedFont>
    <p:embeddedFont>
      <p:font typeface="Inter Italics" charset="1" panose="0200050300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30.png" Type="http://schemas.openxmlformats.org/officeDocument/2006/relationships/image"/><Relationship Id="rId17" Target="../media/image31.svg" Type="http://schemas.openxmlformats.org/officeDocument/2006/relationships/image"/><Relationship Id="rId18" Target="../media/image32.jpe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jpe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jpe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jpeg" Type="http://schemas.openxmlformats.org/officeDocument/2006/relationships/image"/><Relationship Id="rId9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svg" Type="http://schemas.openxmlformats.org/officeDocument/2006/relationships/image"/><Relationship Id="rId11" Target="../media/image1.png" Type="http://schemas.openxmlformats.org/officeDocument/2006/relationships/image"/><Relationship Id="rId12" Target="../media/image2.svg" Type="http://schemas.openxmlformats.org/officeDocument/2006/relationships/image"/><Relationship Id="rId13" Target="../media/image68.png" Type="http://schemas.openxmlformats.org/officeDocument/2006/relationships/image"/><Relationship Id="rId14" Target="../media/image69.png" Type="http://schemas.openxmlformats.org/officeDocument/2006/relationships/image"/><Relationship Id="rId15" Target="../media/image70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jpeg" Type="http://schemas.openxmlformats.org/officeDocument/2006/relationships/image"/><Relationship Id="rId7" Target="../media/image64.png" Type="http://schemas.openxmlformats.org/officeDocument/2006/relationships/image"/><Relationship Id="rId8" Target="../media/image65.sv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svg" Type="http://schemas.openxmlformats.org/officeDocument/2006/relationships/image"/><Relationship Id="rId11" Target="../media/image76.png" Type="http://schemas.openxmlformats.org/officeDocument/2006/relationships/image"/><Relationship Id="rId12" Target="../media/image77.svg" Type="http://schemas.openxmlformats.org/officeDocument/2006/relationships/image"/><Relationship Id="rId13" Target="../media/image78.png" Type="http://schemas.openxmlformats.org/officeDocument/2006/relationships/image"/><Relationship Id="rId14" Target="../media/image60.png" Type="http://schemas.openxmlformats.org/officeDocument/2006/relationships/image"/><Relationship Id="rId15" Target="../media/image79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71.jpeg" Type="http://schemas.openxmlformats.org/officeDocument/2006/relationships/image"/><Relationship Id="rId5" Target="../media/image72.png" Type="http://schemas.openxmlformats.org/officeDocument/2006/relationships/image"/><Relationship Id="rId6" Target="../media/image73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96.png" Type="http://schemas.openxmlformats.org/officeDocument/2006/relationships/image"/><Relationship Id="rId13" Target="../media/image97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0.png" Type="http://schemas.openxmlformats.org/officeDocument/2006/relationships/image"/><Relationship Id="rId5" Target="../media/image91.svg" Type="http://schemas.openxmlformats.org/officeDocument/2006/relationships/image"/><Relationship Id="rId6" Target="../media/image92.png" Type="http://schemas.openxmlformats.org/officeDocument/2006/relationships/image"/><Relationship Id="rId7" Target="../media/image93.svg" Type="http://schemas.openxmlformats.org/officeDocument/2006/relationships/image"/><Relationship Id="rId8" Target="../media/image94.png" Type="http://schemas.openxmlformats.org/officeDocument/2006/relationships/image"/><Relationship Id="rId9" Target="../media/image9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8.png" Type="http://schemas.openxmlformats.org/officeDocument/2006/relationships/image"/><Relationship Id="rId5" Target="../media/image99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6.png" Type="http://schemas.openxmlformats.org/officeDocument/2006/relationships/image"/><Relationship Id="rId9" Target="../media/image7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B3D">
                <a:alpha val="100000"/>
              </a:srgbClr>
            </a:gs>
            <a:gs pos="100000">
              <a:srgbClr val="003D6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9285" y="8963663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0"/>
                </a:moveTo>
                <a:lnTo>
                  <a:pt x="2522410" y="0"/>
                </a:lnTo>
                <a:lnTo>
                  <a:pt x="2522410" y="2701376"/>
                </a:lnTo>
                <a:lnTo>
                  <a:pt x="0" y="2701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4" r="0" b="-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98453" y="499533"/>
            <a:ext cx="8924396" cy="7126840"/>
            <a:chOff x="0" y="0"/>
            <a:chExt cx="874678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4678" cy="698500"/>
            </a:xfrm>
            <a:custGeom>
              <a:avLst/>
              <a:gdLst/>
              <a:ahLst/>
              <a:cxnLst/>
              <a:rect r="r" b="b" t="t" l="l"/>
              <a:pathLst>
                <a:path h="698500" w="874678">
                  <a:moveTo>
                    <a:pt x="874678" y="349250"/>
                  </a:moveTo>
                  <a:lnTo>
                    <a:pt x="67147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71478" y="0"/>
                  </a:lnTo>
                  <a:lnTo>
                    <a:pt x="874678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1C37C2">
                    <a:alpha val="100000"/>
                  </a:srgbClr>
                </a:gs>
                <a:gs pos="100000">
                  <a:srgbClr val="09B6B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646078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86941" y="4278306"/>
            <a:ext cx="3258750" cy="2674144"/>
            <a:chOff x="0" y="0"/>
            <a:chExt cx="4345000" cy="3565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45051" cy="3565525"/>
            </a:xfrm>
            <a:custGeom>
              <a:avLst/>
              <a:gdLst/>
              <a:ahLst/>
              <a:cxnLst/>
              <a:rect r="r" b="b" t="t" l="l"/>
              <a:pathLst>
                <a:path h="3565525" w="4345051">
                  <a:moveTo>
                    <a:pt x="4345051" y="1782699"/>
                  </a:moveTo>
                  <a:lnTo>
                    <a:pt x="3307715" y="3565525"/>
                  </a:lnTo>
                  <a:lnTo>
                    <a:pt x="1037209" y="3565525"/>
                  </a:lnTo>
                  <a:lnTo>
                    <a:pt x="0" y="1782699"/>
                  </a:lnTo>
                  <a:lnTo>
                    <a:pt x="1037209" y="0"/>
                  </a:lnTo>
                  <a:lnTo>
                    <a:pt x="3307715" y="0"/>
                  </a:lnTo>
                  <a:lnTo>
                    <a:pt x="4344924" y="1782699"/>
                  </a:lnTo>
                  <a:close/>
                </a:path>
              </a:pathLst>
            </a:custGeom>
            <a:blipFill>
              <a:blip r:embed="rId4"/>
              <a:stretch>
                <a:fillRect l="0" t="-10930" r="1" b="-109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32693" y="2992145"/>
            <a:ext cx="2993250" cy="2572322"/>
            <a:chOff x="0" y="0"/>
            <a:chExt cx="3991000" cy="3429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90975" cy="3429762"/>
            </a:xfrm>
            <a:custGeom>
              <a:avLst/>
              <a:gdLst/>
              <a:ahLst/>
              <a:cxnLst/>
              <a:rect r="r" b="b" t="t" l="l"/>
              <a:pathLst>
                <a:path h="3429762" w="3990975">
                  <a:moveTo>
                    <a:pt x="3990975" y="1714881"/>
                  </a:moveTo>
                  <a:lnTo>
                    <a:pt x="2993263" y="3429762"/>
                  </a:lnTo>
                  <a:lnTo>
                    <a:pt x="997712" y="3429762"/>
                  </a:lnTo>
                  <a:lnTo>
                    <a:pt x="0" y="1714881"/>
                  </a:lnTo>
                  <a:lnTo>
                    <a:pt x="997712" y="0"/>
                  </a:lnTo>
                  <a:lnTo>
                    <a:pt x="2993263" y="0"/>
                  </a:lnTo>
                  <a:lnTo>
                    <a:pt x="3990975" y="1714881"/>
                  </a:lnTo>
                  <a:close/>
                </a:path>
              </a:pathLst>
            </a:custGeom>
            <a:blipFill>
              <a:blip r:embed="rId5"/>
              <a:stretch>
                <a:fillRect l="0" t="-8181" r="0" b="-818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938660" y="8503720"/>
            <a:ext cx="969578" cy="969578"/>
          </a:xfrm>
          <a:custGeom>
            <a:avLst/>
            <a:gdLst/>
            <a:ahLst/>
            <a:cxnLst/>
            <a:rect r="r" b="b" t="t" l="l"/>
            <a:pathLst>
              <a:path h="969578" w="969578">
                <a:moveTo>
                  <a:pt x="0" y="0"/>
                </a:moveTo>
                <a:lnTo>
                  <a:pt x="969578" y="0"/>
                </a:lnTo>
                <a:lnTo>
                  <a:pt x="969578" y="969578"/>
                </a:lnTo>
                <a:lnTo>
                  <a:pt x="0" y="969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93366" y="8225095"/>
            <a:ext cx="5736936" cy="3921004"/>
          </a:xfrm>
          <a:custGeom>
            <a:avLst/>
            <a:gdLst/>
            <a:ahLst/>
            <a:cxnLst/>
            <a:rect r="r" b="b" t="t" l="l"/>
            <a:pathLst>
              <a:path h="3921004" w="5736936">
                <a:moveTo>
                  <a:pt x="0" y="0"/>
                </a:moveTo>
                <a:lnTo>
                  <a:pt x="5736936" y="0"/>
                </a:lnTo>
                <a:lnTo>
                  <a:pt x="5736936" y="3921004"/>
                </a:lnTo>
                <a:lnTo>
                  <a:pt x="0" y="39210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6304057" y="0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6"/>
                </a:moveTo>
                <a:lnTo>
                  <a:pt x="2522410" y="2701376"/>
                </a:lnTo>
                <a:lnTo>
                  <a:pt x="2522410" y="0"/>
                </a:lnTo>
                <a:lnTo>
                  <a:pt x="0" y="0"/>
                </a:lnTo>
                <a:lnTo>
                  <a:pt x="0" y="27013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4" r="0" b="-34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53422" y="1028700"/>
            <a:ext cx="2178006" cy="2178006"/>
            <a:chOff x="0" y="0"/>
            <a:chExt cx="2904007" cy="29040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03982" cy="2903982"/>
            </a:xfrm>
            <a:custGeom>
              <a:avLst/>
              <a:gdLst/>
              <a:ahLst/>
              <a:cxnLst/>
              <a:rect r="r" b="b" t="t" l="l"/>
              <a:pathLst>
                <a:path h="2903982" w="2903982">
                  <a:moveTo>
                    <a:pt x="0" y="0"/>
                  </a:moveTo>
                  <a:lnTo>
                    <a:pt x="2903982" y="0"/>
                  </a:lnTo>
                  <a:lnTo>
                    <a:pt x="2903982" y="2903982"/>
                  </a:lnTo>
                  <a:lnTo>
                    <a:pt x="0" y="2903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881265" y="5564467"/>
            <a:ext cx="3258750" cy="2674144"/>
            <a:chOff x="0" y="0"/>
            <a:chExt cx="4345000" cy="35655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45051" cy="3565525"/>
            </a:xfrm>
            <a:custGeom>
              <a:avLst/>
              <a:gdLst/>
              <a:ahLst/>
              <a:cxnLst/>
              <a:rect r="r" b="b" t="t" l="l"/>
              <a:pathLst>
                <a:path h="3565525" w="4345051">
                  <a:moveTo>
                    <a:pt x="4345051" y="1782699"/>
                  </a:moveTo>
                  <a:lnTo>
                    <a:pt x="3307715" y="3565525"/>
                  </a:lnTo>
                  <a:lnTo>
                    <a:pt x="1037209" y="3565525"/>
                  </a:lnTo>
                  <a:lnTo>
                    <a:pt x="0" y="1782699"/>
                  </a:lnTo>
                  <a:lnTo>
                    <a:pt x="1037209" y="0"/>
                  </a:lnTo>
                  <a:lnTo>
                    <a:pt x="3307715" y="0"/>
                  </a:lnTo>
                  <a:lnTo>
                    <a:pt x="4344924" y="1782699"/>
                  </a:lnTo>
                  <a:close/>
                </a:path>
              </a:pathLst>
            </a:custGeom>
            <a:blipFill>
              <a:blip r:embed="rId11"/>
              <a:stretch>
                <a:fillRect l="0" t="-10930" r="1" b="-1093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77101" y="1350693"/>
            <a:ext cx="7726956" cy="485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61"/>
              </a:lnSpc>
            </a:pPr>
            <a:r>
              <a:rPr lang="en-US" sz="54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TRANSACCIONES EN LOS SISTEMAS GESTORES DE BASES DE DATOS</a:t>
            </a:r>
          </a:p>
          <a:p>
            <a:pPr algn="l">
              <a:lnSpc>
                <a:spcPts val="7461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017671" y="3378956"/>
            <a:ext cx="7180536" cy="7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38660" y="5872010"/>
            <a:ext cx="7365397" cy="17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3"/>
              </a:lnSpc>
            </a:pPr>
            <a:r>
              <a:rPr lang="en-US" sz="3216" b="true">
                <a:solidFill>
                  <a:srgbClr val="95ADB8"/>
                </a:solidFill>
                <a:latin typeface="Inter Bold"/>
                <a:ea typeface="Inter Bold"/>
                <a:cs typeface="Inter Bold"/>
                <a:sym typeface="Inter Bold"/>
              </a:rPr>
              <a:t>ACID, niveles de aislamiento, COMMIT y ROLLBACK en MySQL</a:t>
            </a:r>
          </a:p>
          <a:p>
            <a:pPr algn="just">
              <a:lnSpc>
                <a:spcPts val="450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908238" y="8585578"/>
            <a:ext cx="5108619" cy="62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5"/>
              </a:lnSpc>
            </a:pPr>
            <a:r>
              <a:rPr lang="en-US" sz="3261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Taller de Base de 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31437" y="1579083"/>
            <a:ext cx="4158415" cy="11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1"/>
              </a:lnSpc>
            </a:pPr>
            <a:r>
              <a:rPr lang="en-US" sz="3065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Titular: Dr.Irahan Otoniel José Guzmán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9267" y="6611083"/>
            <a:ext cx="2226335" cy="7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Salomon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80725" y="5140709"/>
            <a:ext cx="1341930" cy="7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Karlo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76764" y="8029061"/>
            <a:ext cx="1667761" cy="7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Julieth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10570" y="-1145372"/>
            <a:ext cx="13588727" cy="16696611"/>
          </a:xfrm>
          <a:custGeom>
            <a:avLst/>
            <a:gdLst/>
            <a:ahLst/>
            <a:cxnLst/>
            <a:rect r="r" b="b" t="t" l="l"/>
            <a:pathLst>
              <a:path h="16696611" w="13588727">
                <a:moveTo>
                  <a:pt x="0" y="0"/>
                </a:moveTo>
                <a:lnTo>
                  <a:pt x="13588727" y="0"/>
                </a:lnTo>
                <a:lnTo>
                  <a:pt x="13588727" y="16696611"/>
                </a:lnTo>
                <a:lnTo>
                  <a:pt x="0" y="166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2779" y="890092"/>
            <a:ext cx="9415529" cy="4253408"/>
          </a:xfrm>
          <a:custGeom>
            <a:avLst/>
            <a:gdLst/>
            <a:ahLst/>
            <a:cxnLst/>
            <a:rect r="r" b="b" t="t" l="l"/>
            <a:pathLst>
              <a:path h="4253408" w="9415529">
                <a:moveTo>
                  <a:pt x="0" y="0"/>
                </a:moveTo>
                <a:lnTo>
                  <a:pt x="9415529" y="0"/>
                </a:lnTo>
                <a:lnTo>
                  <a:pt x="9415529" y="4253408"/>
                </a:lnTo>
                <a:lnTo>
                  <a:pt x="0" y="4253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382162" cy="441379"/>
          </a:xfrm>
          <a:custGeom>
            <a:avLst/>
            <a:gdLst/>
            <a:ahLst/>
            <a:cxnLst/>
            <a:rect r="r" b="b" t="t" l="l"/>
            <a:pathLst>
              <a:path h="441379" w="382162">
                <a:moveTo>
                  <a:pt x="0" y="0"/>
                </a:moveTo>
                <a:lnTo>
                  <a:pt x="382162" y="0"/>
                </a:lnTo>
                <a:lnTo>
                  <a:pt x="382162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76" t="0" r="-37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6621590" y="0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6"/>
                </a:moveTo>
                <a:lnTo>
                  <a:pt x="2522410" y="2701376"/>
                </a:lnTo>
                <a:lnTo>
                  <a:pt x="2522410" y="0"/>
                </a:lnTo>
                <a:lnTo>
                  <a:pt x="0" y="0"/>
                </a:lnTo>
                <a:lnTo>
                  <a:pt x="0" y="270137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8156200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0"/>
                </a:moveTo>
                <a:lnTo>
                  <a:pt x="2522410" y="0"/>
                </a:lnTo>
                <a:lnTo>
                  <a:pt x="2522410" y="2701376"/>
                </a:lnTo>
                <a:lnTo>
                  <a:pt x="0" y="2701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4" r="0" b="-34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54199" y="2632443"/>
            <a:ext cx="6905101" cy="5696702"/>
            <a:chOff x="0" y="0"/>
            <a:chExt cx="9206802" cy="75956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06738" cy="7595616"/>
            </a:xfrm>
            <a:custGeom>
              <a:avLst/>
              <a:gdLst/>
              <a:ahLst/>
              <a:cxnLst/>
              <a:rect r="r" b="b" t="t" l="l"/>
              <a:pathLst>
                <a:path h="7595616" w="9206738">
                  <a:moveTo>
                    <a:pt x="0" y="0"/>
                  </a:moveTo>
                  <a:lnTo>
                    <a:pt x="9206738" y="0"/>
                  </a:lnTo>
                  <a:lnTo>
                    <a:pt x="9206738" y="7595616"/>
                  </a:lnTo>
                  <a:lnTo>
                    <a:pt x="0" y="7595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00" t="0" r="-10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02869" y="1283608"/>
            <a:ext cx="9298248" cy="462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OBJETIVO GENERAL</a:t>
            </a:r>
          </a:p>
          <a:p>
            <a:pPr algn="l">
              <a:lnSpc>
                <a:spcPts val="1189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686991" y="5417296"/>
            <a:ext cx="9329995" cy="2670248"/>
            <a:chOff x="0" y="0"/>
            <a:chExt cx="12439993" cy="35603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40031" cy="3560318"/>
            </a:xfrm>
            <a:custGeom>
              <a:avLst/>
              <a:gdLst/>
              <a:ahLst/>
              <a:cxnLst/>
              <a:rect r="r" b="b" t="t" l="l"/>
              <a:pathLst>
                <a:path h="3560318" w="12440031">
                  <a:moveTo>
                    <a:pt x="0" y="427228"/>
                  </a:moveTo>
                  <a:cubicBezTo>
                    <a:pt x="0" y="191262"/>
                    <a:pt x="191262" y="0"/>
                    <a:pt x="427228" y="0"/>
                  </a:cubicBezTo>
                  <a:lnTo>
                    <a:pt x="12012803" y="0"/>
                  </a:lnTo>
                  <a:cubicBezTo>
                    <a:pt x="12248769" y="0"/>
                    <a:pt x="12440031" y="191262"/>
                    <a:pt x="12440031" y="427228"/>
                  </a:cubicBezTo>
                  <a:lnTo>
                    <a:pt x="12440031" y="3133090"/>
                  </a:lnTo>
                  <a:cubicBezTo>
                    <a:pt x="12440031" y="3369056"/>
                    <a:pt x="12248769" y="3560318"/>
                    <a:pt x="12012803" y="3560318"/>
                  </a:cubicBezTo>
                  <a:lnTo>
                    <a:pt x="427228" y="3560318"/>
                  </a:lnTo>
                  <a:cubicBezTo>
                    <a:pt x="191262" y="3560318"/>
                    <a:pt x="0" y="3369056"/>
                    <a:pt x="0" y="3133090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439993" cy="3607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40"/>
                </a:lnSpc>
              </a:pPr>
              <a:r>
                <a:rPr lang="en-US" sz="2600" b="true">
                  <a:solidFill>
                    <a:srgbClr val="A5D9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Comprender cómo funcionan las transacciones en un SGBD: sus propiedades, los niveles de aislamiento y cómo se confirman o se deshacen los cambios, comprobándolo con una práctica en MySQL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19781" y="1003325"/>
            <a:ext cx="2853090" cy="39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Taller base de Datos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B3D">
                <a:alpha val="100000"/>
              </a:srgbClr>
            </a:gs>
            <a:gs pos="100000">
              <a:srgbClr val="003D6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82162" cy="441379"/>
          </a:xfrm>
          <a:custGeom>
            <a:avLst/>
            <a:gdLst/>
            <a:ahLst/>
            <a:cxnLst/>
            <a:rect r="r" b="b" t="t" l="l"/>
            <a:pathLst>
              <a:path h="441379" w="382162">
                <a:moveTo>
                  <a:pt x="0" y="0"/>
                </a:moveTo>
                <a:lnTo>
                  <a:pt x="382162" y="0"/>
                </a:lnTo>
                <a:lnTo>
                  <a:pt x="382162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6" t="0" r="-37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30555" y="3269390"/>
            <a:ext cx="12974555" cy="7017610"/>
          </a:xfrm>
          <a:custGeom>
            <a:avLst/>
            <a:gdLst/>
            <a:ahLst/>
            <a:cxnLst/>
            <a:rect r="r" b="b" t="t" l="l"/>
            <a:pathLst>
              <a:path h="7017610" w="12974555">
                <a:moveTo>
                  <a:pt x="0" y="0"/>
                </a:moveTo>
                <a:lnTo>
                  <a:pt x="12974555" y="0"/>
                </a:lnTo>
                <a:lnTo>
                  <a:pt x="12974555" y="7017610"/>
                </a:lnTo>
                <a:lnTo>
                  <a:pt x="0" y="7017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4025" y="7610980"/>
            <a:ext cx="6712820" cy="1752467"/>
          </a:xfrm>
          <a:custGeom>
            <a:avLst/>
            <a:gdLst/>
            <a:ahLst/>
            <a:cxnLst/>
            <a:rect r="r" b="b" t="t" l="l"/>
            <a:pathLst>
              <a:path h="1752467" w="6712820">
                <a:moveTo>
                  <a:pt x="0" y="0"/>
                </a:moveTo>
                <a:lnTo>
                  <a:pt x="6712820" y="0"/>
                </a:lnTo>
                <a:lnTo>
                  <a:pt x="6712820" y="1752466"/>
                </a:lnTo>
                <a:lnTo>
                  <a:pt x="0" y="17524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65780" y="7610980"/>
            <a:ext cx="6712820" cy="1752467"/>
          </a:xfrm>
          <a:custGeom>
            <a:avLst/>
            <a:gdLst/>
            <a:ahLst/>
            <a:cxnLst/>
            <a:rect r="r" b="b" t="t" l="l"/>
            <a:pathLst>
              <a:path h="1752467" w="6712820">
                <a:moveTo>
                  <a:pt x="0" y="0"/>
                </a:moveTo>
                <a:lnTo>
                  <a:pt x="6712820" y="0"/>
                </a:lnTo>
                <a:lnTo>
                  <a:pt x="6712820" y="1752466"/>
                </a:lnTo>
                <a:lnTo>
                  <a:pt x="0" y="17524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47545" y="7610980"/>
            <a:ext cx="5916911" cy="1752467"/>
          </a:xfrm>
          <a:custGeom>
            <a:avLst/>
            <a:gdLst/>
            <a:ahLst/>
            <a:cxnLst/>
            <a:rect r="r" b="b" t="t" l="l"/>
            <a:pathLst>
              <a:path h="1752467" w="5916911">
                <a:moveTo>
                  <a:pt x="0" y="0"/>
                </a:moveTo>
                <a:lnTo>
                  <a:pt x="5916911" y="0"/>
                </a:lnTo>
                <a:lnTo>
                  <a:pt x="5916911" y="1752466"/>
                </a:lnTo>
                <a:lnTo>
                  <a:pt x="0" y="17524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35729" y="8140198"/>
            <a:ext cx="506235" cy="674980"/>
          </a:xfrm>
          <a:custGeom>
            <a:avLst/>
            <a:gdLst/>
            <a:ahLst/>
            <a:cxnLst/>
            <a:rect r="r" b="b" t="t" l="l"/>
            <a:pathLst>
              <a:path h="674980" w="506235">
                <a:moveTo>
                  <a:pt x="0" y="0"/>
                </a:moveTo>
                <a:lnTo>
                  <a:pt x="506235" y="0"/>
                </a:lnTo>
                <a:lnTo>
                  <a:pt x="506235" y="674980"/>
                </a:lnTo>
                <a:lnTo>
                  <a:pt x="0" y="674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03" t="0" r="-703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7580" y="8201568"/>
            <a:ext cx="539191" cy="552250"/>
          </a:xfrm>
          <a:custGeom>
            <a:avLst/>
            <a:gdLst/>
            <a:ahLst/>
            <a:cxnLst/>
            <a:rect r="r" b="b" t="t" l="l"/>
            <a:pathLst>
              <a:path h="552250" w="539191">
                <a:moveTo>
                  <a:pt x="0" y="0"/>
                </a:moveTo>
                <a:lnTo>
                  <a:pt x="539191" y="0"/>
                </a:lnTo>
                <a:lnTo>
                  <a:pt x="539191" y="552250"/>
                </a:lnTo>
                <a:lnTo>
                  <a:pt x="0" y="552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210" t="0" r="-121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71186" y="8217437"/>
            <a:ext cx="520503" cy="520503"/>
          </a:xfrm>
          <a:custGeom>
            <a:avLst/>
            <a:gdLst/>
            <a:ahLst/>
            <a:cxnLst/>
            <a:rect r="r" b="b" t="t" l="l"/>
            <a:pathLst>
              <a:path h="520503" w="520503">
                <a:moveTo>
                  <a:pt x="0" y="0"/>
                </a:moveTo>
                <a:lnTo>
                  <a:pt x="520503" y="0"/>
                </a:lnTo>
                <a:lnTo>
                  <a:pt x="520503" y="520503"/>
                </a:lnTo>
                <a:lnTo>
                  <a:pt x="0" y="5205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91689" y="5633752"/>
            <a:ext cx="2521468" cy="608933"/>
          </a:xfrm>
          <a:custGeom>
            <a:avLst/>
            <a:gdLst/>
            <a:ahLst/>
            <a:cxnLst/>
            <a:rect r="r" b="b" t="t" l="l"/>
            <a:pathLst>
              <a:path h="608933" w="2521468">
                <a:moveTo>
                  <a:pt x="0" y="0"/>
                </a:moveTo>
                <a:lnTo>
                  <a:pt x="2521467" y="0"/>
                </a:lnTo>
                <a:lnTo>
                  <a:pt x="2521467" y="608933"/>
                </a:lnTo>
                <a:lnTo>
                  <a:pt x="0" y="60893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71883" r="0" b="-171883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530868" y="2363848"/>
            <a:ext cx="8502053" cy="4595832"/>
            <a:chOff x="0" y="0"/>
            <a:chExt cx="11336071" cy="61277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36020" cy="6127750"/>
            </a:xfrm>
            <a:custGeom>
              <a:avLst/>
              <a:gdLst/>
              <a:ahLst/>
              <a:cxnLst/>
              <a:rect r="r" b="b" t="t" l="l"/>
              <a:pathLst>
                <a:path h="6127750" w="11336020">
                  <a:moveTo>
                    <a:pt x="11336020" y="3063875"/>
                  </a:moveTo>
                  <a:lnTo>
                    <a:pt x="9525889" y="6127750"/>
                  </a:lnTo>
                  <a:lnTo>
                    <a:pt x="1810131" y="6127750"/>
                  </a:lnTo>
                  <a:lnTo>
                    <a:pt x="0" y="3063875"/>
                  </a:lnTo>
                  <a:lnTo>
                    <a:pt x="1810131" y="0"/>
                  </a:lnTo>
                  <a:lnTo>
                    <a:pt x="9525889" y="0"/>
                  </a:lnTo>
                  <a:lnTo>
                    <a:pt x="11336020" y="3063875"/>
                  </a:lnTo>
                  <a:close/>
                </a:path>
              </a:pathLst>
            </a:custGeom>
            <a:blipFill>
              <a:blip r:embed="rId18"/>
              <a:stretch>
                <a:fillRect l="0" t="-13206" r="0" b="-1320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01337" y="1003325"/>
            <a:ext cx="2839098" cy="39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Taller Base de Datos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1689" y="1546289"/>
            <a:ext cx="9767611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75"/>
              </a:lnSpc>
            </a:pPr>
            <a:r>
              <a:rPr lang="en-US" sz="75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¿QUÉ ES UNA TRANSACCIÓN?</a:t>
            </a:r>
          </a:p>
          <a:p>
            <a:pPr algn="r">
              <a:lnSpc>
                <a:spcPts val="9075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211343" y="4190381"/>
            <a:ext cx="7502414" cy="2978001"/>
            <a:chOff x="0" y="0"/>
            <a:chExt cx="10003218" cy="39706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03282" cy="3970655"/>
            </a:xfrm>
            <a:custGeom>
              <a:avLst/>
              <a:gdLst/>
              <a:ahLst/>
              <a:cxnLst/>
              <a:rect r="r" b="b" t="t" l="l"/>
              <a:pathLst>
                <a:path h="3970655" w="10003282">
                  <a:moveTo>
                    <a:pt x="0" y="476504"/>
                  </a:moveTo>
                  <a:cubicBezTo>
                    <a:pt x="0" y="213360"/>
                    <a:pt x="213360" y="0"/>
                    <a:pt x="476504" y="0"/>
                  </a:cubicBezTo>
                  <a:lnTo>
                    <a:pt x="9526778" y="0"/>
                  </a:lnTo>
                  <a:cubicBezTo>
                    <a:pt x="9789922" y="0"/>
                    <a:pt x="10003282" y="213360"/>
                    <a:pt x="10003282" y="476504"/>
                  </a:cubicBezTo>
                  <a:lnTo>
                    <a:pt x="10003282" y="3494151"/>
                  </a:lnTo>
                  <a:cubicBezTo>
                    <a:pt x="10003282" y="3757295"/>
                    <a:pt x="9789923" y="3970655"/>
                    <a:pt x="9526778" y="3970655"/>
                  </a:cubicBezTo>
                  <a:lnTo>
                    <a:pt x="476504" y="3970655"/>
                  </a:lnTo>
                  <a:cubicBezTo>
                    <a:pt x="213360" y="3970655"/>
                    <a:pt x="0" y="3757295"/>
                    <a:pt x="0" y="3494151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003218" cy="4027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143"/>
                </a:lnSpc>
              </a:pPr>
              <a:r>
                <a:rPr lang="en-US" sz="2958">
                  <a:solidFill>
                    <a:srgbClr val="A5D9F1"/>
                  </a:solidFill>
                  <a:latin typeface="Inter"/>
                  <a:ea typeface="Inter"/>
                  <a:cs typeface="Inter"/>
                  <a:sym typeface="Inter"/>
                </a:rPr>
                <a:t>Una transacción es una unidad lógica de trabajo: varias operaciones SQL que se confirman juntas o se deshacen juntas.</a:t>
              </a:r>
            </a:p>
            <a:p>
              <a:pPr algn="just">
                <a:lnSpc>
                  <a:spcPts val="414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502046" y="8211626"/>
            <a:ext cx="3445040" cy="43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1848"/>
                </a:solidFill>
                <a:latin typeface="Inter Bold"/>
                <a:ea typeface="Inter Bold"/>
                <a:cs typeface="Inter Bold"/>
                <a:sym typeface="Inter Bold"/>
              </a:rPr>
              <a:t>Protege la integridad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83801" y="8011601"/>
            <a:ext cx="3980336" cy="123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1848"/>
                </a:solidFill>
                <a:latin typeface="Inter Bold"/>
                <a:ea typeface="Inter Bold"/>
                <a:cs typeface="Inter Bold"/>
                <a:sym typeface="Inter Bold"/>
              </a:rPr>
              <a:t>Controla la concurrencia entre usuarios.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065566" y="8011601"/>
            <a:ext cx="3445040" cy="1236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1848"/>
                </a:solidFill>
                <a:latin typeface="Inter Bold"/>
                <a:ea typeface="Inter Bold"/>
                <a:cs typeface="Inter Bold"/>
                <a:sym typeface="Inter Bold"/>
              </a:rPr>
              <a:t>Facilita la recuperación ante fallos.</a:t>
            </a:r>
          </a:p>
          <a:p>
            <a:pPr algn="l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72470" y="-1237393"/>
            <a:ext cx="13588727" cy="16696611"/>
          </a:xfrm>
          <a:custGeom>
            <a:avLst/>
            <a:gdLst/>
            <a:ahLst/>
            <a:cxnLst/>
            <a:rect r="r" b="b" t="t" l="l"/>
            <a:pathLst>
              <a:path h="16696611" w="13588727">
                <a:moveTo>
                  <a:pt x="0" y="0"/>
                </a:moveTo>
                <a:lnTo>
                  <a:pt x="13588727" y="0"/>
                </a:lnTo>
                <a:lnTo>
                  <a:pt x="13588727" y="16696611"/>
                </a:lnTo>
                <a:lnTo>
                  <a:pt x="0" y="166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2360" y="3556797"/>
            <a:ext cx="3422837" cy="1073010"/>
          </a:xfrm>
          <a:custGeom>
            <a:avLst/>
            <a:gdLst/>
            <a:ahLst/>
            <a:cxnLst/>
            <a:rect r="r" b="b" t="t" l="l"/>
            <a:pathLst>
              <a:path h="1073010" w="3422837">
                <a:moveTo>
                  <a:pt x="0" y="0"/>
                </a:moveTo>
                <a:lnTo>
                  <a:pt x="3422838" y="0"/>
                </a:lnTo>
                <a:lnTo>
                  <a:pt x="3422838" y="1073010"/>
                </a:lnTo>
                <a:lnTo>
                  <a:pt x="0" y="1073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0345" y="8492700"/>
            <a:ext cx="2522411" cy="2701376"/>
          </a:xfrm>
          <a:custGeom>
            <a:avLst/>
            <a:gdLst/>
            <a:ahLst/>
            <a:cxnLst/>
            <a:rect r="r" b="b" t="t" l="l"/>
            <a:pathLst>
              <a:path h="2701376" w="2522411">
                <a:moveTo>
                  <a:pt x="0" y="0"/>
                </a:moveTo>
                <a:lnTo>
                  <a:pt x="2522410" y="0"/>
                </a:lnTo>
                <a:lnTo>
                  <a:pt x="2522410" y="2701375"/>
                </a:lnTo>
                <a:lnTo>
                  <a:pt x="0" y="27013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605691" y="-1231306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5"/>
                </a:moveTo>
                <a:lnTo>
                  <a:pt x="2522410" y="2701375"/>
                </a:lnTo>
                <a:lnTo>
                  <a:pt x="2522410" y="0"/>
                </a:lnTo>
                <a:lnTo>
                  <a:pt x="0" y="0"/>
                </a:lnTo>
                <a:lnTo>
                  <a:pt x="0" y="270137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4330" y="2653760"/>
            <a:ext cx="4226738" cy="476469"/>
          </a:xfrm>
          <a:custGeom>
            <a:avLst/>
            <a:gdLst/>
            <a:ahLst/>
            <a:cxnLst/>
            <a:rect r="r" b="b" t="t" l="l"/>
            <a:pathLst>
              <a:path h="476469" w="4226738">
                <a:moveTo>
                  <a:pt x="0" y="0"/>
                </a:moveTo>
                <a:lnTo>
                  <a:pt x="4226738" y="0"/>
                </a:lnTo>
                <a:lnTo>
                  <a:pt x="4226738" y="476469"/>
                </a:lnTo>
                <a:lnTo>
                  <a:pt x="0" y="4764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947" r="0" b="-94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2360" y="1009650"/>
            <a:ext cx="8877424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75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CICLO DE VIDA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04330" y="6314103"/>
            <a:ext cx="7960862" cy="2155898"/>
            <a:chOff x="0" y="0"/>
            <a:chExt cx="10614482" cy="28745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4533" cy="2874518"/>
            </a:xfrm>
            <a:custGeom>
              <a:avLst/>
              <a:gdLst/>
              <a:ahLst/>
              <a:cxnLst/>
              <a:rect r="r" b="b" t="t" l="l"/>
              <a:pathLst>
                <a:path h="2874518" w="10614533">
                  <a:moveTo>
                    <a:pt x="0" y="344932"/>
                  </a:moveTo>
                  <a:cubicBezTo>
                    <a:pt x="0" y="154432"/>
                    <a:pt x="154432" y="0"/>
                    <a:pt x="344932" y="0"/>
                  </a:cubicBezTo>
                  <a:lnTo>
                    <a:pt x="10269601" y="0"/>
                  </a:lnTo>
                  <a:cubicBezTo>
                    <a:pt x="10460101" y="0"/>
                    <a:pt x="10614533" y="154432"/>
                    <a:pt x="10614533" y="344932"/>
                  </a:cubicBezTo>
                  <a:lnTo>
                    <a:pt x="10614533" y="2529586"/>
                  </a:lnTo>
                  <a:cubicBezTo>
                    <a:pt x="10614533" y="2720086"/>
                    <a:pt x="10460101" y="2874518"/>
                    <a:pt x="10269601" y="2874518"/>
                  </a:cubicBezTo>
                  <a:lnTo>
                    <a:pt x="344932" y="2874518"/>
                  </a:lnTo>
                  <a:cubicBezTo>
                    <a:pt x="154432" y="2874518"/>
                    <a:pt x="0" y="2720086"/>
                    <a:pt x="0" y="2529586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614482" cy="2912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A5D9F1"/>
                  </a:solidFill>
                  <a:latin typeface="Inter"/>
                  <a:ea typeface="Inter"/>
                  <a:cs typeface="Inter"/>
                  <a:sym typeface="Inter"/>
                </a:rPr>
                <a:t>Se abre con START TRANSACTION. Luego se validan las reglas y se ejecutan las operaciones: UPDATE al inventario e INSERT de la venta.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52181" y="3761613"/>
            <a:ext cx="1778737" cy="6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5"/>
              </a:lnSpc>
            </a:pPr>
            <a:r>
              <a:rPr lang="en-US" sz="314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INICIO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850519" y="3599621"/>
            <a:ext cx="3422837" cy="1073010"/>
          </a:xfrm>
          <a:custGeom>
            <a:avLst/>
            <a:gdLst/>
            <a:ahLst/>
            <a:cxnLst/>
            <a:rect r="r" b="b" t="t" l="l"/>
            <a:pathLst>
              <a:path h="1073010" w="3422837">
                <a:moveTo>
                  <a:pt x="0" y="0"/>
                </a:moveTo>
                <a:lnTo>
                  <a:pt x="3422838" y="0"/>
                </a:lnTo>
                <a:lnTo>
                  <a:pt x="3422838" y="1073011"/>
                </a:lnTo>
                <a:lnTo>
                  <a:pt x="0" y="1073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08678" y="3556797"/>
            <a:ext cx="3422837" cy="1073010"/>
          </a:xfrm>
          <a:custGeom>
            <a:avLst/>
            <a:gdLst/>
            <a:ahLst/>
            <a:cxnLst/>
            <a:rect r="r" b="b" t="t" l="l"/>
            <a:pathLst>
              <a:path h="1073010" w="3422837">
                <a:moveTo>
                  <a:pt x="0" y="0"/>
                </a:moveTo>
                <a:lnTo>
                  <a:pt x="3422838" y="0"/>
                </a:lnTo>
                <a:lnTo>
                  <a:pt x="3422838" y="1073010"/>
                </a:lnTo>
                <a:lnTo>
                  <a:pt x="0" y="1073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72470" y="3556797"/>
            <a:ext cx="3422837" cy="1073010"/>
          </a:xfrm>
          <a:custGeom>
            <a:avLst/>
            <a:gdLst/>
            <a:ahLst/>
            <a:cxnLst/>
            <a:rect r="r" b="b" t="t" l="l"/>
            <a:pathLst>
              <a:path h="1073010" w="3422837">
                <a:moveTo>
                  <a:pt x="0" y="0"/>
                </a:moveTo>
                <a:lnTo>
                  <a:pt x="3422837" y="0"/>
                </a:lnTo>
                <a:lnTo>
                  <a:pt x="3422837" y="1073010"/>
                </a:lnTo>
                <a:lnTo>
                  <a:pt x="0" y="1073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733432" y="3599621"/>
            <a:ext cx="3422837" cy="1073010"/>
          </a:xfrm>
          <a:custGeom>
            <a:avLst/>
            <a:gdLst/>
            <a:ahLst/>
            <a:cxnLst/>
            <a:rect r="r" b="b" t="t" l="l"/>
            <a:pathLst>
              <a:path h="1073010" w="3422837">
                <a:moveTo>
                  <a:pt x="0" y="0"/>
                </a:moveTo>
                <a:lnTo>
                  <a:pt x="3422837" y="0"/>
                </a:lnTo>
                <a:lnTo>
                  <a:pt x="3422837" y="1073011"/>
                </a:lnTo>
                <a:lnTo>
                  <a:pt x="0" y="1073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641574" y="3761613"/>
            <a:ext cx="2348884" cy="6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5"/>
              </a:lnSpc>
            </a:pPr>
            <a:r>
              <a:rPr lang="en-US" sz="314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VERIFICAR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49859" y="3794303"/>
            <a:ext cx="1778737" cy="6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5"/>
              </a:lnSpc>
            </a:pPr>
            <a:r>
              <a:rPr lang="en-US" sz="314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VALIDAR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02955" y="3794303"/>
            <a:ext cx="1778737" cy="6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5"/>
              </a:lnSpc>
            </a:pPr>
            <a:r>
              <a:rPr lang="en-US" sz="314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OPERAR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83974" y="3738880"/>
            <a:ext cx="1782669" cy="60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313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DECIDIR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86212" y="6528416"/>
            <a:ext cx="7960862" cy="1727273"/>
            <a:chOff x="0" y="0"/>
            <a:chExt cx="10614482" cy="23030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14533" cy="2303018"/>
            </a:xfrm>
            <a:custGeom>
              <a:avLst/>
              <a:gdLst/>
              <a:ahLst/>
              <a:cxnLst/>
              <a:rect r="r" b="b" t="t" l="l"/>
              <a:pathLst>
                <a:path h="2303018" w="10614533">
                  <a:moveTo>
                    <a:pt x="0" y="276352"/>
                  </a:moveTo>
                  <a:cubicBezTo>
                    <a:pt x="0" y="123698"/>
                    <a:pt x="123698" y="0"/>
                    <a:pt x="276352" y="0"/>
                  </a:cubicBezTo>
                  <a:lnTo>
                    <a:pt x="10338181" y="0"/>
                  </a:lnTo>
                  <a:cubicBezTo>
                    <a:pt x="10490836" y="0"/>
                    <a:pt x="10614533" y="123698"/>
                    <a:pt x="10614533" y="276352"/>
                  </a:cubicBezTo>
                  <a:lnTo>
                    <a:pt x="10614533" y="2026666"/>
                  </a:lnTo>
                  <a:cubicBezTo>
                    <a:pt x="10614533" y="2179320"/>
                    <a:pt x="10490836" y="2303018"/>
                    <a:pt x="10338181" y="2303018"/>
                  </a:cubicBezTo>
                  <a:lnTo>
                    <a:pt x="276352" y="2303018"/>
                  </a:lnTo>
                  <a:cubicBezTo>
                    <a:pt x="123698" y="2303018"/>
                    <a:pt x="0" y="2179320"/>
                    <a:pt x="0" y="2026666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614482" cy="2341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A5D9F1"/>
                  </a:solidFill>
                  <a:latin typeface="Inter"/>
                  <a:ea typeface="Inter"/>
                  <a:cs typeface="Inter"/>
                  <a:sym typeface="Inter"/>
                </a:rPr>
                <a:t>La decisión final es COMMIT si todo salió bien o ROLLBACK si hubo un error. Al final se consulta el estado de los datos.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24" y="3904488"/>
            <a:ext cx="420624" cy="420624"/>
            <a:chOff x="0" y="0"/>
            <a:chExt cx="560832" cy="560832"/>
          </a:xfrm>
        </p:grpSpPr>
        <p:sp>
          <p:nvSpPr>
            <p:cNvPr name="Freeform 24" id="24" descr="FaPlay_w.png"/>
            <p:cNvSpPr/>
            <p:nvPr/>
          </p:nvSpPr>
          <p:spPr>
            <a:xfrm flipH="false" flipV="false" rot="0">
              <a:off x="0" y="0"/>
              <a:ext cx="560832" cy="560832"/>
            </a:xfrm>
            <a:custGeom>
              <a:avLst/>
              <a:gdLst/>
              <a:ahLst/>
              <a:cxnLst/>
              <a:rect r="r" b="b" t="t" l="l"/>
              <a:pathLst>
                <a:path h="560832" w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206240" y="3904488"/>
            <a:ext cx="420624" cy="420624"/>
            <a:chOff x="0" y="0"/>
            <a:chExt cx="560832" cy="560832"/>
          </a:xfrm>
        </p:grpSpPr>
        <p:sp>
          <p:nvSpPr>
            <p:cNvPr name="Freeform 26" id="26" descr="FaClipboardCheck_w.png"/>
            <p:cNvSpPr/>
            <p:nvPr/>
          </p:nvSpPr>
          <p:spPr>
            <a:xfrm flipH="false" flipV="false" rot="0">
              <a:off x="0" y="0"/>
              <a:ext cx="560832" cy="560832"/>
            </a:xfrm>
            <a:custGeom>
              <a:avLst/>
              <a:gdLst/>
              <a:ahLst/>
              <a:cxnLst/>
              <a:rect r="r" b="b" t="t" l="l"/>
              <a:pathLst>
                <a:path h="560832" w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763256" y="3904488"/>
            <a:ext cx="420624" cy="420624"/>
            <a:chOff x="0" y="0"/>
            <a:chExt cx="560832" cy="560832"/>
          </a:xfrm>
        </p:grpSpPr>
        <p:sp>
          <p:nvSpPr>
            <p:cNvPr name="Freeform 28" id="28" descr="FaCogs_w.png"/>
            <p:cNvSpPr/>
            <p:nvPr/>
          </p:nvSpPr>
          <p:spPr>
            <a:xfrm flipH="false" flipV="false" rot="0">
              <a:off x="0" y="0"/>
              <a:ext cx="560832" cy="560832"/>
            </a:xfrm>
            <a:custGeom>
              <a:avLst/>
              <a:gdLst/>
              <a:ahLst/>
              <a:cxnLst/>
              <a:rect r="r" b="b" t="t" l="l"/>
              <a:pathLst>
                <a:path h="560832" w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30000" y="3904488"/>
            <a:ext cx="420624" cy="420624"/>
            <a:chOff x="0" y="0"/>
            <a:chExt cx="560832" cy="560832"/>
          </a:xfrm>
        </p:grpSpPr>
        <p:sp>
          <p:nvSpPr>
            <p:cNvPr name="Freeform 30" id="30" descr="FaBalanceScale_w.png"/>
            <p:cNvSpPr/>
            <p:nvPr/>
          </p:nvSpPr>
          <p:spPr>
            <a:xfrm flipH="false" flipV="false" rot="0">
              <a:off x="0" y="0"/>
              <a:ext cx="560832" cy="560832"/>
            </a:xfrm>
            <a:custGeom>
              <a:avLst/>
              <a:gdLst/>
              <a:ahLst/>
              <a:cxnLst/>
              <a:rect r="r" b="b" t="t" l="l"/>
              <a:pathLst>
                <a:path h="560832" w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087600" y="3904488"/>
            <a:ext cx="420624" cy="420624"/>
            <a:chOff x="0" y="0"/>
            <a:chExt cx="560832" cy="560832"/>
          </a:xfrm>
        </p:grpSpPr>
        <p:sp>
          <p:nvSpPr>
            <p:cNvPr name="Freeform 32" id="32" descr="FaSearch_w.png"/>
            <p:cNvSpPr/>
            <p:nvPr/>
          </p:nvSpPr>
          <p:spPr>
            <a:xfrm flipH="false" flipV="false" rot="0">
              <a:off x="0" y="0"/>
              <a:ext cx="560832" cy="560832"/>
            </a:xfrm>
            <a:custGeom>
              <a:avLst/>
              <a:gdLst/>
              <a:ahLst/>
              <a:cxnLst/>
              <a:rect r="r" b="b" t="t" l="l"/>
              <a:pathLst>
                <a:path h="560832" w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B3D">
                <a:alpha val="100000"/>
              </a:srgbClr>
            </a:gs>
            <a:gs pos="100000">
              <a:srgbClr val="003D6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82162" cy="441379"/>
          </a:xfrm>
          <a:custGeom>
            <a:avLst/>
            <a:gdLst/>
            <a:ahLst/>
            <a:cxnLst/>
            <a:rect r="r" b="b" t="t" l="l"/>
            <a:pathLst>
              <a:path h="441379" w="382162">
                <a:moveTo>
                  <a:pt x="0" y="0"/>
                </a:moveTo>
                <a:lnTo>
                  <a:pt x="382162" y="0"/>
                </a:lnTo>
                <a:lnTo>
                  <a:pt x="382162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6" t="0" r="-37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91235" y="1976476"/>
            <a:ext cx="8475231" cy="7990142"/>
          </a:xfrm>
          <a:custGeom>
            <a:avLst/>
            <a:gdLst/>
            <a:ahLst/>
            <a:cxnLst/>
            <a:rect r="r" b="b" t="t" l="l"/>
            <a:pathLst>
              <a:path h="7990142" w="8475231">
                <a:moveTo>
                  <a:pt x="0" y="0"/>
                </a:moveTo>
                <a:lnTo>
                  <a:pt x="8475231" y="0"/>
                </a:lnTo>
                <a:lnTo>
                  <a:pt x="8475231" y="7990141"/>
                </a:lnTo>
                <a:lnTo>
                  <a:pt x="0" y="7990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91235" y="7858249"/>
            <a:ext cx="14082008" cy="4677261"/>
          </a:xfrm>
          <a:custGeom>
            <a:avLst/>
            <a:gdLst/>
            <a:ahLst/>
            <a:cxnLst/>
            <a:rect r="r" b="b" t="t" l="l"/>
            <a:pathLst>
              <a:path h="4677261" w="14082008">
                <a:moveTo>
                  <a:pt x="0" y="0"/>
                </a:moveTo>
                <a:lnTo>
                  <a:pt x="14082007" y="0"/>
                </a:lnTo>
                <a:lnTo>
                  <a:pt x="14082007" y="4677261"/>
                </a:lnTo>
                <a:lnTo>
                  <a:pt x="0" y="4677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890551" y="2939801"/>
            <a:ext cx="6602825" cy="6063491"/>
            <a:chOff x="0" y="0"/>
            <a:chExt cx="8803767" cy="8084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03767" cy="8084693"/>
            </a:xfrm>
            <a:custGeom>
              <a:avLst/>
              <a:gdLst/>
              <a:ahLst/>
              <a:cxnLst/>
              <a:rect r="r" b="b" t="t" l="l"/>
              <a:pathLst>
                <a:path h="8084693" w="8803767">
                  <a:moveTo>
                    <a:pt x="8803767" y="4042283"/>
                  </a:moveTo>
                  <a:lnTo>
                    <a:pt x="6451854" y="8084693"/>
                  </a:lnTo>
                  <a:lnTo>
                    <a:pt x="2351913" y="8084693"/>
                  </a:lnTo>
                  <a:lnTo>
                    <a:pt x="0" y="4042283"/>
                  </a:lnTo>
                  <a:lnTo>
                    <a:pt x="2351913" y="0"/>
                  </a:lnTo>
                  <a:lnTo>
                    <a:pt x="6451854" y="0"/>
                  </a:lnTo>
                  <a:lnTo>
                    <a:pt x="8803767" y="4042283"/>
                  </a:lnTo>
                  <a:close/>
                </a:path>
              </a:pathLst>
            </a:custGeom>
            <a:blipFill>
              <a:blip r:embed="rId8"/>
              <a:stretch>
                <a:fillRect l="-31628" t="0" r="-3162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838586" y="5914558"/>
            <a:ext cx="1015698" cy="904465"/>
          </a:xfrm>
          <a:custGeom>
            <a:avLst/>
            <a:gdLst/>
            <a:ahLst/>
            <a:cxnLst/>
            <a:rect r="r" b="b" t="t" l="l"/>
            <a:pathLst>
              <a:path h="904465" w="1015698">
                <a:moveTo>
                  <a:pt x="0" y="0"/>
                </a:moveTo>
                <a:lnTo>
                  <a:pt x="1015698" y="0"/>
                </a:lnTo>
                <a:lnTo>
                  <a:pt x="1015698" y="904466"/>
                </a:lnTo>
                <a:lnTo>
                  <a:pt x="0" y="9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38586" y="7134196"/>
            <a:ext cx="1015698" cy="904465"/>
          </a:xfrm>
          <a:custGeom>
            <a:avLst/>
            <a:gdLst/>
            <a:ahLst/>
            <a:cxnLst/>
            <a:rect r="r" b="b" t="t" l="l"/>
            <a:pathLst>
              <a:path h="904465" w="1015698">
                <a:moveTo>
                  <a:pt x="0" y="0"/>
                </a:moveTo>
                <a:lnTo>
                  <a:pt x="1015698" y="0"/>
                </a:lnTo>
                <a:lnTo>
                  <a:pt x="1015698" y="904466"/>
                </a:lnTo>
                <a:lnTo>
                  <a:pt x="0" y="9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38586" y="8353835"/>
            <a:ext cx="1015698" cy="904465"/>
          </a:xfrm>
          <a:custGeom>
            <a:avLst/>
            <a:gdLst/>
            <a:ahLst/>
            <a:cxnLst/>
            <a:rect r="r" b="b" t="t" l="l"/>
            <a:pathLst>
              <a:path h="904465" w="1015698">
                <a:moveTo>
                  <a:pt x="0" y="0"/>
                </a:moveTo>
                <a:lnTo>
                  <a:pt x="1015698" y="0"/>
                </a:lnTo>
                <a:lnTo>
                  <a:pt x="1015698" y="904465"/>
                </a:lnTo>
                <a:lnTo>
                  <a:pt x="0" y="904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211003" y="3194809"/>
            <a:ext cx="4932997" cy="3031741"/>
            <a:chOff x="0" y="0"/>
            <a:chExt cx="6577330" cy="4042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7330" cy="4042283"/>
            </a:xfrm>
            <a:custGeom>
              <a:avLst/>
              <a:gdLst/>
              <a:ahLst/>
              <a:cxnLst/>
              <a:rect r="r" b="b" t="t" l="l"/>
              <a:pathLst>
                <a:path h="4042283" w="6577330">
                  <a:moveTo>
                    <a:pt x="6577330" y="2021205"/>
                  </a:moveTo>
                  <a:lnTo>
                    <a:pt x="5383276" y="4042283"/>
                  </a:lnTo>
                  <a:lnTo>
                    <a:pt x="1194054" y="4042283"/>
                  </a:lnTo>
                  <a:lnTo>
                    <a:pt x="0" y="2021205"/>
                  </a:lnTo>
                  <a:lnTo>
                    <a:pt x="1194054" y="0"/>
                  </a:lnTo>
                  <a:lnTo>
                    <a:pt x="5383276" y="0"/>
                  </a:lnTo>
                  <a:lnTo>
                    <a:pt x="6577330" y="2021205"/>
                  </a:lnTo>
                  <a:close/>
                </a:path>
              </a:pathLst>
            </a:custGeom>
            <a:blipFill>
              <a:blip r:embed="rId11"/>
              <a:stretch>
                <a:fillRect l="-4629" t="0" r="-462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622532" y="6858895"/>
            <a:ext cx="2521468" cy="608933"/>
          </a:xfrm>
          <a:custGeom>
            <a:avLst/>
            <a:gdLst/>
            <a:ahLst/>
            <a:cxnLst/>
            <a:rect r="r" b="b" t="t" l="l"/>
            <a:pathLst>
              <a:path h="608933" w="2521468">
                <a:moveTo>
                  <a:pt x="0" y="0"/>
                </a:moveTo>
                <a:lnTo>
                  <a:pt x="2521468" y="0"/>
                </a:lnTo>
                <a:lnTo>
                  <a:pt x="2521468" y="608934"/>
                </a:lnTo>
                <a:lnTo>
                  <a:pt x="0" y="6089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71883" r="0" b="-17188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01337" y="1003325"/>
            <a:ext cx="28096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Taller Base de Datos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4703" y="1909696"/>
            <a:ext cx="7933287" cy="124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800"/>
              </a:lnSpc>
            </a:pPr>
            <a:r>
              <a:rPr lang="en-US" sz="8099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EJEMPLOS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763040" y="3491960"/>
            <a:ext cx="6953307" cy="1727273"/>
            <a:chOff x="0" y="0"/>
            <a:chExt cx="9271076" cy="23030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71127" cy="2303018"/>
            </a:xfrm>
            <a:custGeom>
              <a:avLst/>
              <a:gdLst/>
              <a:ahLst/>
              <a:cxnLst/>
              <a:rect r="r" b="b" t="t" l="l"/>
              <a:pathLst>
                <a:path h="2303018" w="9271127">
                  <a:moveTo>
                    <a:pt x="0" y="276352"/>
                  </a:moveTo>
                  <a:cubicBezTo>
                    <a:pt x="0" y="123698"/>
                    <a:pt x="123698" y="0"/>
                    <a:pt x="276352" y="0"/>
                  </a:cubicBezTo>
                  <a:lnTo>
                    <a:pt x="8994775" y="0"/>
                  </a:lnTo>
                  <a:cubicBezTo>
                    <a:pt x="9147429" y="0"/>
                    <a:pt x="9271127" y="123698"/>
                    <a:pt x="9271127" y="276352"/>
                  </a:cubicBezTo>
                  <a:lnTo>
                    <a:pt x="9271127" y="2026666"/>
                  </a:lnTo>
                  <a:cubicBezTo>
                    <a:pt x="9271127" y="2179320"/>
                    <a:pt x="9147429" y="2303018"/>
                    <a:pt x="8994775" y="2303018"/>
                  </a:cubicBezTo>
                  <a:lnTo>
                    <a:pt x="276352" y="2303018"/>
                  </a:lnTo>
                  <a:cubicBezTo>
                    <a:pt x="123698" y="2303018"/>
                    <a:pt x="0" y="2179320"/>
                    <a:pt x="0" y="2026666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271076" cy="2341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A5D9F1"/>
                  </a:solidFill>
                  <a:latin typeface="Inter"/>
                  <a:ea typeface="Inter"/>
                  <a:cs typeface="Inter"/>
                  <a:sym typeface="Inter"/>
                </a:rPr>
                <a:t>Las operaciones de cada caso deben ir juntas. Si solo se hace una parte, los datos quedan incorrectos.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39694" y="6114593"/>
            <a:ext cx="3566160" cy="44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Transferencia bancaria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39694" y="7334231"/>
            <a:ext cx="3566160" cy="44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Venta e inventario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39694" y="8553869"/>
            <a:ext cx="3566160" cy="44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Reserva de boletos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085064" y="6126480"/>
            <a:ext cx="530352" cy="530352"/>
            <a:chOff x="0" y="0"/>
            <a:chExt cx="707136" cy="707136"/>
          </a:xfrm>
        </p:grpSpPr>
        <p:sp>
          <p:nvSpPr>
            <p:cNvPr name="Freeform 22" id="22" descr="FaUniversity_n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85064" y="7342632"/>
            <a:ext cx="530352" cy="530352"/>
            <a:chOff x="0" y="0"/>
            <a:chExt cx="707136" cy="707136"/>
          </a:xfrm>
        </p:grpSpPr>
        <p:sp>
          <p:nvSpPr>
            <p:cNvPr name="Freeform 24" id="24" descr="FaShoppingCart_n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085064" y="8567928"/>
            <a:ext cx="530352" cy="530352"/>
            <a:chOff x="0" y="0"/>
            <a:chExt cx="707136" cy="707136"/>
          </a:xfrm>
        </p:grpSpPr>
        <p:sp>
          <p:nvSpPr>
            <p:cNvPr name="Freeform 26" id="26" descr="FaTicketAlt_n.png"/>
            <p:cNvSpPr/>
            <p:nvPr/>
          </p:nvSpPr>
          <p:spPr>
            <a:xfrm flipH="false" flipV="false" rot="0">
              <a:off x="0" y="0"/>
              <a:ext cx="707136" cy="707136"/>
            </a:xfrm>
            <a:custGeom>
              <a:avLst/>
              <a:gdLst/>
              <a:ahLst/>
              <a:cxnLst/>
              <a:rect r="r" b="b" t="t" l="l"/>
              <a:pathLst>
                <a:path h="707136" w="707136">
                  <a:moveTo>
                    <a:pt x="0" y="0"/>
                  </a:moveTo>
                  <a:lnTo>
                    <a:pt x="707136" y="0"/>
                  </a:lnTo>
                  <a:lnTo>
                    <a:pt x="707136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72470" y="-1237393"/>
            <a:ext cx="13588727" cy="16696611"/>
          </a:xfrm>
          <a:custGeom>
            <a:avLst/>
            <a:gdLst/>
            <a:ahLst/>
            <a:cxnLst/>
            <a:rect r="r" b="b" t="t" l="l"/>
            <a:pathLst>
              <a:path h="16696611" w="13588727">
                <a:moveTo>
                  <a:pt x="0" y="0"/>
                </a:moveTo>
                <a:lnTo>
                  <a:pt x="13588727" y="0"/>
                </a:lnTo>
                <a:lnTo>
                  <a:pt x="13588727" y="16696611"/>
                </a:lnTo>
                <a:lnTo>
                  <a:pt x="0" y="166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345" y="8492700"/>
            <a:ext cx="2522411" cy="2701376"/>
          </a:xfrm>
          <a:custGeom>
            <a:avLst/>
            <a:gdLst/>
            <a:ahLst/>
            <a:cxnLst/>
            <a:rect r="r" b="b" t="t" l="l"/>
            <a:pathLst>
              <a:path h="2701376" w="2522411">
                <a:moveTo>
                  <a:pt x="0" y="0"/>
                </a:moveTo>
                <a:lnTo>
                  <a:pt x="2522410" y="0"/>
                </a:lnTo>
                <a:lnTo>
                  <a:pt x="2522410" y="2701375"/>
                </a:lnTo>
                <a:lnTo>
                  <a:pt x="0" y="270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605691" y="-1231306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5"/>
                </a:moveTo>
                <a:lnTo>
                  <a:pt x="2522410" y="2701375"/>
                </a:lnTo>
                <a:lnTo>
                  <a:pt x="2522410" y="0"/>
                </a:lnTo>
                <a:lnTo>
                  <a:pt x="0" y="0"/>
                </a:lnTo>
                <a:lnTo>
                  <a:pt x="0" y="27013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80" y="847725"/>
            <a:ext cx="132588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60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PROPIEDADES ACID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834640"/>
          <a:ext cx="16446500" cy="5791200"/>
        </p:xfrm>
        <a:graphic>
          <a:graphicData uri="http://schemas.openxmlformats.org/drawingml/2006/table">
            <a:tbl>
              <a:tblPr/>
              <a:tblGrid>
                <a:gridCol w="4202994"/>
                <a:gridCol w="6213122"/>
                <a:gridCol w="6030383"/>
              </a:tblGrid>
              <a:tr h="866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Propiedad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Ejemplo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Si falla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</a:tr>
              <a:tr h="123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Atomicidad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Débito y crédito juntos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Dinero descontado y no acreditado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</a:tr>
              <a:tr h="123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Consistencia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Existencia nunca negativa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Datos inválidos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</a:tr>
              <a:tr h="123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Aislamiento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Dos cajeros, un solo helado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Sobreventa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</a:tr>
              <a:tr h="1231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Durabilidad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Venta confirmada tras un reinicio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 pierde lo ya confirmado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82162" cy="441379"/>
          </a:xfrm>
          <a:custGeom>
            <a:avLst/>
            <a:gdLst/>
            <a:ahLst/>
            <a:cxnLst/>
            <a:rect r="r" b="b" t="t" l="l"/>
            <a:pathLst>
              <a:path h="441379" w="382162">
                <a:moveTo>
                  <a:pt x="0" y="0"/>
                </a:moveTo>
                <a:lnTo>
                  <a:pt x="382162" y="0"/>
                </a:lnTo>
                <a:lnTo>
                  <a:pt x="382162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6" t="0" r="-37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0823" y="7443159"/>
            <a:ext cx="18468823" cy="2843841"/>
          </a:xfrm>
          <a:custGeom>
            <a:avLst/>
            <a:gdLst/>
            <a:ahLst/>
            <a:cxnLst/>
            <a:rect r="r" b="b" t="t" l="l"/>
            <a:pathLst>
              <a:path h="2843841" w="18468823">
                <a:moveTo>
                  <a:pt x="0" y="0"/>
                </a:moveTo>
                <a:lnTo>
                  <a:pt x="18468823" y="0"/>
                </a:lnTo>
                <a:lnTo>
                  <a:pt x="18468823" y="2843841"/>
                </a:lnTo>
                <a:lnTo>
                  <a:pt x="0" y="2843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542159"/>
            <a:ext cx="11905469" cy="3716141"/>
          </a:xfrm>
          <a:custGeom>
            <a:avLst/>
            <a:gdLst/>
            <a:ahLst/>
            <a:cxnLst/>
            <a:rect r="r" b="b" t="t" l="l"/>
            <a:pathLst>
              <a:path h="3716141" w="11905469">
                <a:moveTo>
                  <a:pt x="0" y="0"/>
                </a:moveTo>
                <a:lnTo>
                  <a:pt x="11905469" y="0"/>
                </a:lnTo>
                <a:lnTo>
                  <a:pt x="11905469" y="3716141"/>
                </a:lnTo>
                <a:lnTo>
                  <a:pt x="0" y="37161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152752" y="5779360"/>
            <a:ext cx="11116085" cy="3478940"/>
            <a:chOff x="0" y="0"/>
            <a:chExt cx="14821446" cy="4638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21408" cy="4638548"/>
            </a:xfrm>
            <a:custGeom>
              <a:avLst/>
              <a:gdLst/>
              <a:ahLst/>
              <a:cxnLst/>
              <a:rect r="r" b="b" t="t" l="l"/>
              <a:pathLst>
                <a:path h="4638548" w="14821408">
                  <a:moveTo>
                    <a:pt x="14821408" y="2319274"/>
                  </a:moveTo>
                  <a:lnTo>
                    <a:pt x="13472033" y="4638548"/>
                  </a:lnTo>
                  <a:lnTo>
                    <a:pt x="1349375" y="4638548"/>
                  </a:lnTo>
                  <a:lnTo>
                    <a:pt x="0" y="2319274"/>
                  </a:lnTo>
                  <a:lnTo>
                    <a:pt x="1349375" y="0"/>
                  </a:lnTo>
                  <a:lnTo>
                    <a:pt x="13472033" y="0"/>
                  </a:lnTo>
                  <a:lnTo>
                    <a:pt x="14821408" y="2319274"/>
                  </a:lnTo>
                  <a:close/>
                </a:path>
              </a:pathLst>
            </a:custGeom>
            <a:blipFill>
              <a:blip r:embed="rId8"/>
              <a:stretch>
                <a:fillRect l="0" t="-39866" r="0" b="-3986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01337" y="1003325"/>
            <a:ext cx="303927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Taller Base de Datos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05507"/>
            <a:ext cx="9255081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72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CONSISTENCIA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48632" y="3037065"/>
            <a:ext cx="6126537" cy="2155898"/>
            <a:chOff x="0" y="0"/>
            <a:chExt cx="8168716" cy="28745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68767" cy="2874518"/>
            </a:xfrm>
            <a:custGeom>
              <a:avLst/>
              <a:gdLst/>
              <a:ahLst/>
              <a:cxnLst/>
              <a:rect r="r" b="b" t="t" l="l"/>
              <a:pathLst>
                <a:path h="2874518" w="8168767">
                  <a:moveTo>
                    <a:pt x="0" y="344932"/>
                  </a:moveTo>
                  <a:cubicBezTo>
                    <a:pt x="0" y="154432"/>
                    <a:pt x="154432" y="0"/>
                    <a:pt x="344932" y="0"/>
                  </a:cubicBezTo>
                  <a:lnTo>
                    <a:pt x="7823835" y="0"/>
                  </a:lnTo>
                  <a:cubicBezTo>
                    <a:pt x="8014335" y="0"/>
                    <a:pt x="8168767" y="154432"/>
                    <a:pt x="8168767" y="344932"/>
                  </a:cubicBezTo>
                  <a:lnTo>
                    <a:pt x="8168767" y="2529586"/>
                  </a:lnTo>
                  <a:cubicBezTo>
                    <a:pt x="8168767" y="2720086"/>
                    <a:pt x="8014335" y="2874518"/>
                    <a:pt x="7823835" y="2874518"/>
                  </a:cubicBezTo>
                  <a:lnTo>
                    <a:pt x="344932" y="2874518"/>
                  </a:lnTo>
                  <a:cubicBezTo>
                    <a:pt x="154432" y="2874518"/>
                    <a:pt x="0" y="2720086"/>
                    <a:pt x="0" y="2529586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68716" cy="2912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A5D9F1"/>
                  </a:solidFill>
                  <a:latin typeface="Inter"/>
                  <a:ea typeface="Inter"/>
                  <a:cs typeface="Inter"/>
                  <a:sym typeface="Inter"/>
                </a:rPr>
                <a:t>La consistencia es que los datos cumplan las reglas. Las restricciones de integridad hacen que se cumplan.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038533" y="6364386"/>
            <a:ext cx="318145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1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Claves PK y FK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38533" y="7207682"/>
            <a:ext cx="318145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1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NOT NULL y UNIQUE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38533" y="8050968"/>
            <a:ext cx="318145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1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CHECK y DEFAULT</a:t>
            </a:r>
          </a:p>
        </p:txBody>
      </p:sp>
      <p:sp>
        <p:nvSpPr>
          <p:cNvPr name="Freeform 15" id="15"/>
          <p:cNvSpPr/>
          <p:nvPr/>
        </p:nvSpPr>
        <p:spPr>
          <a:xfrm flipH="false" flipV="true" rot="0">
            <a:off x="14736890" y="-907599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6"/>
                </a:moveTo>
                <a:lnTo>
                  <a:pt x="2522410" y="2701376"/>
                </a:lnTo>
                <a:lnTo>
                  <a:pt x="2522410" y="0"/>
                </a:lnTo>
                <a:lnTo>
                  <a:pt x="0" y="0"/>
                </a:lnTo>
                <a:lnTo>
                  <a:pt x="0" y="2701376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4" r="0" b="-34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200400" y="6409944"/>
            <a:ext cx="548640" cy="548640"/>
            <a:chOff x="0" y="0"/>
            <a:chExt cx="731520" cy="731520"/>
          </a:xfrm>
        </p:grpSpPr>
        <p:sp>
          <p:nvSpPr>
            <p:cNvPr name="Freeform 17" id="17" descr="FaKey_w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200400" y="7260336"/>
            <a:ext cx="548640" cy="548640"/>
            <a:chOff x="0" y="0"/>
            <a:chExt cx="731520" cy="731520"/>
          </a:xfrm>
        </p:grpSpPr>
        <p:sp>
          <p:nvSpPr>
            <p:cNvPr name="Freeform 19" id="19" descr="FaLock_w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200400" y="8110728"/>
            <a:ext cx="548640" cy="548640"/>
            <a:chOff x="0" y="0"/>
            <a:chExt cx="731520" cy="731520"/>
          </a:xfrm>
        </p:grpSpPr>
        <p:sp>
          <p:nvSpPr>
            <p:cNvPr name="Freeform 21" id="21" descr="FaCheckCircle_w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72470" y="-1237393"/>
            <a:ext cx="13588727" cy="16696611"/>
          </a:xfrm>
          <a:custGeom>
            <a:avLst/>
            <a:gdLst/>
            <a:ahLst/>
            <a:cxnLst/>
            <a:rect r="r" b="b" t="t" l="l"/>
            <a:pathLst>
              <a:path h="16696611" w="13588727">
                <a:moveTo>
                  <a:pt x="0" y="0"/>
                </a:moveTo>
                <a:lnTo>
                  <a:pt x="13588727" y="0"/>
                </a:lnTo>
                <a:lnTo>
                  <a:pt x="13588727" y="16696611"/>
                </a:lnTo>
                <a:lnTo>
                  <a:pt x="0" y="166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345" y="8492700"/>
            <a:ext cx="2522411" cy="2701376"/>
          </a:xfrm>
          <a:custGeom>
            <a:avLst/>
            <a:gdLst/>
            <a:ahLst/>
            <a:cxnLst/>
            <a:rect r="r" b="b" t="t" l="l"/>
            <a:pathLst>
              <a:path h="2701376" w="2522411">
                <a:moveTo>
                  <a:pt x="0" y="0"/>
                </a:moveTo>
                <a:lnTo>
                  <a:pt x="2522410" y="0"/>
                </a:lnTo>
                <a:lnTo>
                  <a:pt x="2522410" y="2701375"/>
                </a:lnTo>
                <a:lnTo>
                  <a:pt x="0" y="270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605691" y="-1231306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5"/>
                </a:moveTo>
                <a:lnTo>
                  <a:pt x="2522410" y="2701375"/>
                </a:lnTo>
                <a:lnTo>
                  <a:pt x="2522410" y="0"/>
                </a:lnTo>
                <a:lnTo>
                  <a:pt x="0" y="0"/>
                </a:lnTo>
                <a:lnTo>
                  <a:pt x="0" y="27013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80" y="847725"/>
            <a:ext cx="132588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60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FUERTE VS EVENTUAL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834640"/>
          <a:ext cx="16433800" cy="5029200"/>
        </p:xfrm>
        <a:graphic>
          <a:graphicData uri="http://schemas.openxmlformats.org/drawingml/2006/table">
            <a:tbl>
              <a:tblPr/>
              <a:tblGrid>
                <a:gridCol w="3104162"/>
                <a:gridCol w="6664819"/>
                <a:gridCol w="6664819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Consistencia fuerte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Consistencia eventual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Lectura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Siempre ve el dato actualizado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Puede ver un dato anterior por un rato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Costo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Más coordinación y latencia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Respuesta más rápida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Uso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Saldos y reservas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Contadores y métricas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898522" y="8305162"/>
            <a:ext cx="16490947" cy="1220467"/>
            <a:chOff x="0" y="0"/>
            <a:chExt cx="21987929" cy="1627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88018" cy="1627378"/>
            </a:xfrm>
            <a:custGeom>
              <a:avLst/>
              <a:gdLst/>
              <a:ahLst/>
              <a:cxnLst/>
              <a:rect r="r" b="b" t="t" l="l"/>
              <a:pathLst>
                <a:path h="1627378" w="21988018">
                  <a:moveTo>
                    <a:pt x="0" y="195326"/>
                  </a:moveTo>
                  <a:cubicBezTo>
                    <a:pt x="0" y="87376"/>
                    <a:pt x="87376" y="0"/>
                    <a:pt x="195326" y="0"/>
                  </a:cubicBezTo>
                  <a:lnTo>
                    <a:pt x="21792692" y="0"/>
                  </a:lnTo>
                  <a:cubicBezTo>
                    <a:pt x="21900514" y="0"/>
                    <a:pt x="21988018" y="87376"/>
                    <a:pt x="21988018" y="195326"/>
                  </a:cubicBezTo>
                  <a:lnTo>
                    <a:pt x="21988018" y="1432052"/>
                  </a:lnTo>
                  <a:cubicBezTo>
                    <a:pt x="21988018" y="1539875"/>
                    <a:pt x="21900642" y="1627378"/>
                    <a:pt x="21792692" y="1627378"/>
                  </a:cubicBezTo>
                  <a:lnTo>
                    <a:pt x="195326" y="1627378"/>
                  </a:lnTo>
                  <a:cubicBezTo>
                    <a:pt x="87376" y="1627251"/>
                    <a:pt x="0" y="1539875"/>
                    <a:pt x="0" y="1432052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87929" cy="1627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ACID describe las transacciones; fuerte y eventual describen qué ven las lecturas en datos replicados.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B3D">
                <a:alpha val="100000"/>
              </a:srgbClr>
            </a:gs>
            <a:gs pos="100000">
              <a:srgbClr val="003D6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82162" cy="441379"/>
          </a:xfrm>
          <a:custGeom>
            <a:avLst/>
            <a:gdLst/>
            <a:ahLst/>
            <a:cxnLst/>
            <a:rect r="r" b="b" t="t" l="l"/>
            <a:pathLst>
              <a:path h="441379" w="382162">
                <a:moveTo>
                  <a:pt x="0" y="0"/>
                </a:moveTo>
                <a:lnTo>
                  <a:pt x="382162" y="0"/>
                </a:lnTo>
                <a:lnTo>
                  <a:pt x="382162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6" t="0" r="-37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143612"/>
            <a:ext cx="8344814" cy="7325563"/>
          </a:xfrm>
          <a:custGeom>
            <a:avLst/>
            <a:gdLst/>
            <a:ahLst/>
            <a:cxnLst/>
            <a:rect r="r" b="b" t="t" l="l"/>
            <a:pathLst>
              <a:path h="7325563" w="8344814">
                <a:moveTo>
                  <a:pt x="0" y="0"/>
                </a:moveTo>
                <a:lnTo>
                  <a:pt x="8344814" y="0"/>
                </a:lnTo>
                <a:lnTo>
                  <a:pt x="8344814" y="7325563"/>
                </a:lnTo>
                <a:lnTo>
                  <a:pt x="0" y="73255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301821" y="2761240"/>
            <a:ext cx="9252976" cy="7525760"/>
            <a:chOff x="0" y="0"/>
            <a:chExt cx="12337301" cy="100343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37288" cy="10034397"/>
            </a:xfrm>
            <a:custGeom>
              <a:avLst/>
              <a:gdLst/>
              <a:ahLst/>
              <a:cxnLst/>
              <a:rect r="r" b="b" t="t" l="l"/>
              <a:pathLst>
                <a:path h="10034397" w="12337288">
                  <a:moveTo>
                    <a:pt x="12337288" y="5017135"/>
                  </a:moveTo>
                  <a:lnTo>
                    <a:pt x="9418193" y="10034397"/>
                  </a:lnTo>
                  <a:lnTo>
                    <a:pt x="2919095" y="10034397"/>
                  </a:lnTo>
                  <a:lnTo>
                    <a:pt x="0" y="5017135"/>
                  </a:lnTo>
                  <a:lnTo>
                    <a:pt x="2919095" y="0"/>
                  </a:lnTo>
                  <a:lnTo>
                    <a:pt x="9418193" y="0"/>
                  </a:lnTo>
                  <a:lnTo>
                    <a:pt x="12337288" y="5017135"/>
                  </a:lnTo>
                  <a:close/>
                </a:path>
              </a:pathLst>
            </a:custGeom>
            <a:blipFill>
              <a:blip r:embed="rId6"/>
              <a:stretch>
                <a:fillRect l="-22296" t="0" r="-22296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821981" y="7327106"/>
            <a:ext cx="16751770" cy="1931194"/>
          </a:xfrm>
          <a:custGeom>
            <a:avLst/>
            <a:gdLst/>
            <a:ahLst/>
            <a:cxnLst/>
            <a:rect r="r" b="b" t="t" l="l"/>
            <a:pathLst>
              <a:path h="1931194" w="16751770">
                <a:moveTo>
                  <a:pt x="0" y="0"/>
                </a:moveTo>
                <a:lnTo>
                  <a:pt x="16751770" y="0"/>
                </a:lnTo>
                <a:lnTo>
                  <a:pt x="16751770" y="1931194"/>
                </a:lnTo>
                <a:lnTo>
                  <a:pt x="0" y="19311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69384" y="7632792"/>
            <a:ext cx="4510249" cy="1363161"/>
          </a:xfrm>
          <a:custGeom>
            <a:avLst/>
            <a:gdLst/>
            <a:ahLst/>
            <a:cxnLst/>
            <a:rect r="r" b="b" t="t" l="l"/>
            <a:pathLst>
              <a:path h="1363161" w="4510249">
                <a:moveTo>
                  <a:pt x="0" y="0"/>
                </a:moveTo>
                <a:lnTo>
                  <a:pt x="4510249" y="0"/>
                </a:lnTo>
                <a:lnTo>
                  <a:pt x="4510249" y="1363161"/>
                </a:lnTo>
                <a:lnTo>
                  <a:pt x="0" y="13631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22704" y="7632792"/>
            <a:ext cx="4510249" cy="1363161"/>
          </a:xfrm>
          <a:custGeom>
            <a:avLst/>
            <a:gdLst/>
            <a:ahLst/>
            <a:cxnLst/>
            <a:rect r="r" b="b" t="t" l="l"/>
            <a:pathLst>
              <a:path h="1363161" w="4510249">
                <a:moveTo>
                  <a:pt x="0" y="0"/>
                </a:moveTo>
                <a:lnTo>
                  <a:pt x="4510250" y="0"/>
                </a:lnTo>
                <a:lnTo>
                  <a:pt x="4510250" y="1363161"/>
                </a:lnTo>
                <a:lnTo>
                  <a:pt x="0" y="13631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76025" y="7632792"/>
            <a:ext cx="4510249" cy="1363161"/>
          </a:xfrm>
          <a:custGeom>
            <a:avLst/>
            <a:gdLst/>
            <a:ahLst/>
            <a:cxnLst/>
            <a:rect r="r" b="b" t="t" l="l"/>
            <a:pathLst>
              <a:path h="1363161" w="4510249">
                <a:moveTo>
                  <a:pt x="0" y="0"/>
                </a:moveTo>
                <a:lnTo>
                  <a:pt x="4510250" y="0"/>
                </a:lnTo>
                <a:lnTo>
                  <a:pt x="4510250" y="1363161"/>
                </a:lnTo>
                <a:lnTo>
                  <a:pt x="0" y="13631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01337" y="1003325"/>
            <a:ext cx="277107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Taller Base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26013" y="1624841"/>
            <a:ext cx="7933287" cy="266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sz="6399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CONCURRENCIA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28122" y="4589326"/>
            <a:ext cx="8147047" cy="2155898"/>
            <a:chOff x="0" y="0"/>
            <a:chExt cx="10862729" cy="28745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62690" cy="2874518"/>
            </a:xfrm>
            <a:custGeom>
              <a:avLst/>
              <a:gdLst/>
              <a:ahLst/>
              <a:cxnLst/>
              <a:rect r="r" b="b" t="t" l="l"/>
              <a:pathLst>
                <a:path h="2874518" w="10862690">
                  <a:moveTo>
                    <a:pt x="0" y="344932"/>
                  </a:moveTo>
                  <a:cubicBezTo>
                    <a:pt x="0" y="154432"/>
                    <a:pt x="154432" y="0"/>
                    <a:pt x="344932" y="0"/>
                  </a:cubicBezTo>
                  <a:lnTo>
                    <a:pt x="10517759" y="0"/>
                  </a:lnTo>
                  <a:cubicBezTo>
                    <a:pt x="10708259" y="0"/>
                    <a:pt x="10862690" y="154432"/>
                    <a:pt x="10862690" y="344932"/>
                  </a:cubicBezTo>
                  <a:lnTo>
                    <a:pt x="10862690" y="2529586"/>
                  </a:lnTo>
                  <a:cubicBezTo>
                    <a:pt x="10862690" y="2720086"/>
                    <a:pt x="10708259" y="2874518"/>
                    <a:pt x="10517759" y="2874518"/>
                  </a:cubicBezTo>
                  <a:lnTo>
                    <a:pt x="344932" y="2874518"/>
                  </a:lnTo>
                  <a:cubicBezTo>
                    <a:pt x="154432" y="2874518"/>
                    <a:pt x="0" y="2720086"/>
                    <a:pt x="0" y="2529586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862729" cy="2912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A5D9F1"/>
                  </a:solidFill>
                  <a:latin typeface="Inter"/>
                  <a:ea typeface="Inter"/>
                  <a:cs typeface="Inter"/>
                  <a:sym typeface="Inter"/>
                </a:rPr>
                <a:t>Cuando varias transacciones trabajan al mismo tiempo pueden aparecer lecturas incorrectas. El nivel de aislamiento define cuáles se permiten.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58639" y="8075305"/>
            <a:ext cx="248010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Lectura sucia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11960" y="8075305"/>
            <a:ext cx="248010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No repetible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65291" y="8075305"/>
            <a:ext cx="248010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Fantasma</a:t>
            </a:r>
          </a:p>
        </p:txBody>
      </p:sp>
      <p:sp>
        <p:nvSpPr>
          <p:cNvPr name="Freeform 18" id="18"/>
          <p:cNvSpPr/>
          <p:nvPr/>
        </p:nvSpPr>
        <p:spPr>
          <a:xfrm flipH="false" flipV="true" rot="0">
            <a:off x="6648564" y="-483841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5"/>
                </a:moveTo>
                <a:lnTo>
                  <a:pt x="2522411" y="2701375"/>
                </a:lnTo>
                <a:lnTo>
                  <a:pt x="2522411" y="0"/>
                </a:lnTo>
                <a:lnTo>
                  <a:pt x="0" y="0"/>
                </a:lnTo>
                <a:lnTo>
                  <a:pt x="0" y="2701375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34" r="0" b="-34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685032" y="8019288"/>
            <a:ext cx="658368" cy="658368"/>
            <a:chOff x="0" y="0"/>
            <a:chExt cx="877824" cy="877824"/>
          </a:xfrm>
        </p:grpSpPr>
        <p:sp>
          <p:nvSpPr>
            <p:cNvPr name="Freeform 20" id="20" descr="FaExclamationTriangle_w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03920" y="8019288"/>
            <a:ext cx="658368" cy="658368"/>
            <a:chOff x="0" y="0"/>
            <a:chExt cx="877824" cy="877824"/>
          </a:xfrm>
        </p:grpSpPr>
        <p:sp>
          <p:nvSpPr>
            <p:cNvPr name="Freeform 22" id="22" descr="FaSync_w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86816" y="8019288"/>
            <a:ext cx="658368" cy="658368"/>
            <a:chOff x="0" y="0"/>
            <a:chExt cx="877824" cy="877824"/>
          </a:xfrm>
        </p:grpSpPr>
        <p:sp>
          <p:nvSpPr>
            <p:cNvPr name="Freeform 24" id="24" descr="FaGhost_w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72470" y="-1237393"/>
            <a:ext cx="13588727" cy="16696611"/>
          </a:xfrm>
          <a:custGeom>
            <a:avLst/>
            <a:gdLst/>
            <a:ahLst/>
            <a:cxnLst/>
            <a:rect r="r" b="b" t="t" l="l"/>
            <a:pathLst>
              <a:path h="16696611" w="13588727">
                <a:moveTo>
                  <a:pt x="0" y="0"/>
                </a:moveTo>
                <a:lnTo>
                  <a:pt x="13588727" y="0"/>
                </a:lnTo>
                <a:lnTo>
                  <a:pt x="13588727" y="16696611"/>
                </a:lnTo>
                <a:lnTo>
                  <a:pt x="0" y="166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345" y="8492700"/>
            <a:ext cx="2522411" cy="2701376"/>
          </a:xfrm>
          <a:custGeom>
            <a:avLst/>
            <a:gdLst/>
            <a:ahLst/>
            <a:cxnLst/>
            <a:rect r="r" b="b" t="t" l="l"/>
            <a:pathLst>
              <a:path h="2701376" w="2522411">
                <a:moveTo>
                  <a:pt x="0" y="0"/>
                </a:moveTo>
                <a:lnTo>
                  <a:pt x="2522410" y="0"/>
                </a:lnTo>
                <a:lnTo>
                  <a:pt x="2522410" y="2701375"/>
                </a:lnTo>
                <a:lnTo>
                  <a:pt x="0" y="270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605691" y="-1231306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5"/>
                </a:moveTo>
                <a:lnTo>
                  <a:pt x="2522410" y="2701375"/>
                </a:lnTo>
                <a:lnTo>
                  <a:pt x="2522410" y="0"/>
                </a:lnTo>
                <a:lnTo>
                  <a:pt x="0" y="0"/>
                </a:lnTo>
                <a:lnTo>
                  <a:pt x="0" y="27013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80" y="847725"/>
            <a:ext cx="132588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60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NIVELES DE AISLAMIENTO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834640"/>
          <a:ext cx="16446500" cy="4826000"/>
        </p:xfrm>
        <a:graphic>
          <a:graphicData uri="http://schemas.openxmlformats.org/drawingml/2006/table">
            <a:tbl>
              <a:tblPr/>
              <a:tblGrid>
                <a:gridCol w="5664906"/>
                <a:gridCol w="3654778"/>
                <a:gridCol w="3654778"/>
                <a:gridCol w="3472039"/>
              </a:tblGrid>
              <a:tr h="8195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Nivel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Lectura sucia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No repetible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Fantasma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BD"/>
                    </a:solidFill>
                  </a:tcPr>
                </a:tc>
              </a:tr>
              <a:tr h="10016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READ UNCOMMITTED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Puede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Puede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Puede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10016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READ COMMITTED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Evita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Puede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Puede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</a:tr>
              <a:tr h="10016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REPEATABLE READ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2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Evita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Evita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Según el SGBD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821A"/>
                    </a:solidFill>
                  </a:tcPr>
                </a:tc>
              </a:tr>
              <a:tr h="10016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SERIALIZABLE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18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Evita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Evita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Evita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A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898522" y="8442322"/>
            <a:ext cx="16490947" cy="1220467"/>
            <a:chOff x="0" y="0"/>
            <a:chExt cx="21987929" cy="16272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88018" cy="1627378"/>
            </a:xfrm>
            <a:custGeom>
              <a:avLst/>
              <a:gdLst/>
              <a:ahLst/>
              <a:cxnLst/>
              <a:rect r="r" b="b" t="t" l="l"/>
              <a:pathLst>
                <a:path h="1627378" w="21988018">
                  <a:moveTo>
                    <a:pt x="0" y="195326"/>
                  </a:moveTo>
                  <a:cubicBezTo>
                    <a:pt x="0" y="87376"/>
                    <a:pt x="87376" y="0"/>
                    <a:pt x="195326" y="0"/>
                  </a:cubicBezTo>
                  <a:lnTo>
                    <a:pt x="21792692" y="0"/>
                  </a:lnTo>
                  <a:cubicBezTo>
                    <a:pt x="21900514" y="0"/>
                    <a:pt x="21988018" y="87376"/>
                    <a:pt x="21988018" y="195326"/>
                  </a:cubicBezTo>
                  <a:lnTo>
                    <a:pt x="21988018" y="1432052"/>
                  </a:lnTo>
                  <a:cubicBezTo>
                    <a:pt x="21988018" y="1539875"/>
                    <a:pt x="21900642" y="1627378"/>
                    <a:pt x="21792692" y="1627378"/>
                  </a:cubicBezTo>
                  <a:lnTo>
                    <a:pt x="195326" y="1627378"/>
                  </a:lnTo>
                  <a:cubicBezTo>
                    <a:pt x="87376" y="1627251"/>
                    <a:pt x="0" y="1539875"/>
                    <a:pt x="0" y="1432052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87929" cy="1627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MySQL/InnoDB usa REPEATABLE READ por defecto. PostgreSQL trata READ UNCOMMITTED como READ COMMITTED.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82162" cy="441379"/>
          </a:xfrm>
          <a:custGeom>
            <a:avLst/>
            <a:gdLst/>
            <a:ahLst/>
            <a:cxnLst/>
            <a:rect r="r" b="b" t="t" l="l"/>
            <a:pathLst>
              <a:path h="441379" w="382162">
                <a:moveTo>
                  <a:pt x="0" y="0"/>
                </a:moveTo>
                <a:lnTo>
                  <a:pt x="382162" y="0"/>
                </a:lnTo>
                <a:lnTo>
                  <a:pt x="382162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6" t="0" r="-37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85123" y="2518286"/>
            <a:ext cx="9874177" cy="6740014"/>
            <a:chOff x="0" y="0"/>
            <a:chExt cx="13165569" cy="89866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65582" cy="8986647"/>
            </a:xfrm>
            <a:custGeom>
              <a:avLst/>
              <a:gdLst/>
              <a:ahLst/>
              <a:cxnLst/>
              <a:rect r="r" b="b" t="t" l="l"/>
              <a:pathLst>
                <a:path h="8986647" w="13165582">
                  <a:moveTo>
                    <a:pt x="13165582" y="4493387"/>
                  </a:moveTo>
                  <a:lnTo>
                    <a:pt x="10551287" y="8986647"/>
                  </a:lnTo>
                  <a:lnTo>
                    <a:pt x="2614295" y="8986647"/>
                  </a:lnTo>
                  <a:lnTo>
                    <a:pt x="0" y="4493387"/>
                  </a:lnTo>
                  <a:lnTo>
                    <a:pt x="2614295" y="0"/>
                  </a:lnTo>
                  <a:lnTo>
                    <a:pt x="10551287" y="0"/>
                  </a:lnTo>
                  <a:lnTo>
                    <a:pt x="13165582" y="4493387"/>
                  </a:lnTo>
                  <a:close/>
                </a:path>
              </a:pathLst>
            </a:custGeom>
            <a:blipFill>
              <a:blip r:embed="rId4"/>
              <a:stretch>
                <a:fillRect l="-1296" t="0" r="-129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960073" y="3348038"/>
            <a:ext cx="10119608" cy="5910262"/>
          </a:xfrm>
          <a:custGeom>
            <a:avLst/>
            <a:gdLst/>
            <a:ahLst/>
            <a:cxnLst/>
            <a:rect r="r" b="b" t="t" l="l"/>
            <a:pathLst>
              <a:path h="5910262" w="10119608">
                <a:moveTo>
                  <a:pt x="0" y="0"/>
                </a:moveTo>
                <a:lnTo>
                  <a:pt x="10119608" y="0"/>
                </a:lnTo>
                <a:lnTo>
                  <a:pt x="10119608" y="5910262"/>
                </a:lnTo>
                <a:lnTo>
                  <a:pt x="0" y="59102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4736890" y="-907599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6"/>
                </a:moveTo>
                <a:lnTo>
                  <a:pt x="2522410" y="2701376"/>
                </a:lnTo>
                <a:lnTo>
                  <a:pt x="2522410" y="0"/>
                </a:lnTo>
                <a:lnTo>
                  <a:pt x="0" y="0"/>
                </a:lnTo>
                <a:lnTo>
                  <a:pt x="0" y="270137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76528" y="7960585"/>
            <a:ext cx="2070554" cy="500043"/>
          </a:xfrm>
          <a:custGeom>
            <a:avLst/>
            <a:gdLst/>
            <a:ahLst/>
            <a:cxnLst/>
            <a:rect r="r" b="b" t="t" l="l"/>
            <a:pathLst>
              <a:path h="500043" w="2070554">
                <a:moveTo>
                  <a:pt x="0" y="0"/>
                </a:moveTo>
                <a:lnTo>
                  <a:pt x="2070554" y="0"/>
                </a:lnTo>
                <a:lnTo>
                  <a:pt x="2070554" y="500044"/>
                </a:lnTo>
                <a:lnTo>
                  <a:pt x="0" y="5000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71282" r="0" b="-17128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51907" y="1470079"/>
            <a:ext cx="1659893" cy="787565"/>
          </a:xfrm>
          <a:custGeom>
            <a:avLst/>
            <a:gdLst/>
            <a:ahLst/>
            <a:cxnLst/>
            <a:rect r="r" b="b" t="t" l="l"/>
            <a:pathLst>
              <a:path h="787565" w="1659893">
                <a:moveTo>
                  <a:pt x="0" y="0"/>
                </a:moveTo>
                <a:lnTo>
                  <a:pt x="1659893" y="0"/>
                </a:lnTo>
                <a:lnTo>
                  <a:pt x="1659893" y="787565"/>
                </a:lnTo>
                <a:lnTo>
                  <a:pt x="0" y="787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8" t="0" r="-1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01337" y="1003325"/>
            <a:ext cx="271344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Taller Base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2866" y="3272595"/>
            <a:ext cx="7582605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75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COMANDOS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5010907"/>
            <a:ext cx="5463045" cy="2584523"/>
            <a:chOff x="0" y="0"/>
            <a:chExt cx="7284060" cy="3446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84085" cy="3446018"/>
            </a:xfrm>
            <a:custGeom>
              <a:avLst/>
              <a:gdLst/>
              <a:ahLst/>
              <a:cxnLst/>
              <a:rect r="r" b="b" t="t" l="l"/>
              <a:pathLst>
                <a:path h="3446018" w="7284085">
                  <a:moveTo>
                    <a:pt x="0" y="413512"/>
                  </a:moveTo>
                  <a:cubicBezTo>
                    <a:pt x="0" y="185166"/>
                    <a:pt x="185166" y="0"/>
                    <a:pt x="413512" y="0"/>
                  </a:cubicBezTo>
                  <a:lnTo>
                    <a:pt x="6870573" y="0"/>
                  </a:lnTo>
                  <a:cubicBezTo>
                    <a:pt x="7098919" y="0"/>
                    <a:pt x="7284085" y="185166"/>
                    <a:pt x="7284085" y="413512"/>
                  </a:cubicBezTo>
                  <a:lnTo>
                    <a:pt x="7284085" y="3032506"/>
                  </a:lnTo>
                  <a:cubicBezTo>
                    <a:pt x="7284085" y="3260852"/>
                    <a:pt x="7098919" y="3446018"/>
                    <a:pt x="6870573" y="3446018"/>
                  </a:cubicBezTo>
                  <a:lnTo>
                    <a:pt x="413512" y="3446018"/>
                  </a:lnTo>
                  <a:cubicBezTo>
                    <a:pt x="185166" y="3446018"/>
                    <a:pt x="0" y="3260852"/>
                    <a:pt x="0" y="3032506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84060" cy="348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A5D9F1"/>
                  </a:solidFill>
                  <a:latin typeface="Inter"/>
                  <a:ea typeface="Inter"/>
                  <a:cs typeface="Inter"/>
                  <a:sym typeface="Inter"/>
                </a:rPr>
                <a:t>Con el autocommit activo, la transacción se abre con START TRANSACTION. Si hay un error, la aplicación decide si hace ROLLBACK.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240693" y="4722647"/>
            <a:ext cx="4294832" cy="84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1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START TRANSACTION abre la transacción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40693" y="7309714"/>
            <a:ext cx="4206240" cy="84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1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ROLLBACK cancela los cambios pendientes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40693" y="6016180"/>
            <a:ext cx="4294832" cy="84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1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COMMIT confirma los cambios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33504" y="4855464"/>
            <a:ext cx="713232" cy="713232"/>
            <a:chOff x="0" y="0"/>
            <a:chExt cx="950976" cy="950976"/>
          </a:xfrm>
        </p:grpSpPr>
        <p:sp>
          <p:nvSpPr>
            <p:cNvPr name="Freeform 18" id="18" descr="FaPlayCircle_w.png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33504" y="6135624"/>
            <a:ext cx="713232" cy="713232"/>
            <a:chOff x="0" y="0"/>
            <a:chExt cx="950976" cy="950976"/>
          </a:xfrm>
        </p:grpSpPr>
        <p:sp>
          <p:nvSpPr>
            <p:cNvPr name="Freeform 20" id="20" descr="FaCheckCircle_w.png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33504" y="7470648"/>
            <a:ext cx="713232" cy="713232"/>
            <a:chOff x="0" y="0"/>
            <a:chExt cx="950976" cy="950976"/>
          </a:xfrm>
        </p:grpSpPr>
        <p:sp>
          <p:nvSpPr>
            <p:cNvPr name="Freeform 22" id="22" descr="FaUndo_w.png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72470" y="-1237393"/>
            <a:ext cx="13588727" cy="16696611"/>
          </a:xfrm>
          <a:custGeom>
            <a:avLst/>
            <a:gdLst/>
            <a:ahLst/>
            <a:cxnLst/>
            <a:rect r="r" b="b" t="t" l="l"/>
            <a:pathLst>
              <a:path h="16696611" w="13588727">
                <a:moveTo>
                  <a:pt x="0" y="0"/>
                </a:moveTo>
                <a:lnTo>
                  <a:pt x="13588727" y="0"/>
                </a:lnTo>
                <a:lnTo>
                  <a:pt x="13588727" y="16696611"/>
                </a:lnTo>
                <a:lnTo>
                  <a:pt x="0" y="166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345" y="8492700"/>
            <a:ext cx="2522411" cy="2701376"/>
          </a:xfrm>
          <a:custGeom>
            <a:avLst/>
            <a:gdLst/>
            <a:ahLst/>
            <a:cxnLst/>
            <a:rect r="r" b="b" t="t" l="l"/>
            <a:pathLst>
              <a:path h="2701376" w="2522411">
                <a:moveTo>
                  <a:pt x="0" y="0"/>
                </a:moveTo>
                <a:lnTo>
                  <a:pt x="2522410" y="0"/>
                </a:lnTo>
                <a:lnTo>
                  <a:pt x="2522410" y="2701375"/>
                </a:lnTo>
                <a:lnTo>
                  <a:pt x="0" y="270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605691" y="-1231306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5"/>
                </a:moveTo>
                <a:lnTo>
                  <a:pt x="2522410" y="2701375"/>
                </a:lnTo>
                <a:lnTo>
                  <a:pt x="2522410" y="0"/>
                </a:lnTo>
                <a:lnTo>
                  <a:pt x="0" y="0"/>
                </a:lnTo>
                <a:lnTo>
                  <a:pt x="0" y="27013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80" y="847725"/>
            <a:ext cx="132588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60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PRÁCTICA: PREPARACIÓN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2377440"/>
            <a:ext cx="8229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Base y tablas creadas en MySQL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82265" y="3017520"/>
            <a:ext cx="7768190" cy="6400800"/>
            <a:chOff x="0" y="0"/>
            <a:chExt cx="10357587" cy="8534400"/>
          </a:xfrm>
        </p:grpSpPr>
        <p:sp>
          <p:nvSpPr>
            <p:cNvPr name="Freeform 8" id="8" descr="Captura de MySQL Workbench"/>
            <p:cNvSpPr/>
            <p:nvPr/>
          </p:nvSpPr>
          <p:spPr>
            <a:xfrm flipH="false" flipV="false" rot="0">
              <a:off x="0" y="0"/>
              <a:ext cx="10357612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357612">
                  <a:moveTo>
                    <a:pt x="0" y="0"/>
                  </a:moveTo>
                  <a:lnTo>
                    <a:pt x="10357612" y="0"/>
                  </a:lnTo>
                  <a:lnTo>
                    <a:pt x="10357612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66960" y="2377440"/>
            <a:ext cx="73152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Estado inicial: productos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66960" y="3144231"/>
            <a:ext cx="7406640" cy="1575378"/>
            <a:chOff x="0" y="0"/>
            <a:chExt cx="9875520" cy="2100504"/>
          </a:xfrm>
        </p:grpSpPr>
        <p:sp>
          <p:nvSpPr>
            <p:cNvPr name="Freeform 11" id="11" descr="Captura de MySQL Workbench"/>
            <p:cNvSpPr/>
            <p:nvPr/>
          </p:nvSpPr>
          <p:spPr>
            <a:xfrm flipH="false" flipV="false" rot="0">
              <a:off x="0" y="0"/>
              <a:ext cx="9875520" cy="2100453"/>
            </a:xfrm>
            <a:custGeom>
              <a:avLst/>
              <a:gdLst/>
              <a:ahLst/>
              <a:cxnLst/>
              <a:rect r="r" b="b" t="t" l="l"/>
              <a:pathLst>
                <a:path h="2100453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00453"/>
                  </a:lnTo>
                  <a:lnTo>
                    <a:pt x="0" y="2100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66960" y="5440680"/>
            <a:ext cx="73152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Estado inicial: ventas (vacía)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66960" y="6312027"/>
            <a:ext cx="7406640" cy="1366276"/>
            <a:chOff x="0" y="0"/>
            <a:chExt cx="9875520" cy="1821701"/>
          </a:xfrm>
        </p:grpSpPr>
        <p:sp>
          <p:nvSpPr>
            <p:cNvPr name="Freeform 14" id="14" descr="Captura de MySQL Workbench"/>
            <p:cNvSpPr/>
            <p:nvPr/>
          </p:nvSpPr>
          <p:spPr>
            <a:xfrm flipH="false" flipV="false" rot="0">
              <a:off x="0" y="0"/>
              <a:ext cx="9875520" cy="1821688"/>
            </a:xfrm>
            <a:custGeom>
              <a:avLst/>
              <a:gdLst/>
              <a:ahLst/>
              <a:cxnLst/>
              <a:rect r="r" b="b" t="t" l="l"/>
              <a:pathLst>
                <a:path h="182168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821688"/>
                  </a:lnTo>
                  <a:lnTo>
                    <a:pt x="0" y="1821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72470" y="-1237393"/>
            <a:ext cx="13588727" cy="16696611"/>
          </a:xfrm>
          <a:custGeom>
            <a:avLst/>
            <a:gdLst/>
            <a:ahLst/>
            <a:cxnLst/>
            <a:rect r="r" b="b" t="t" l="l"/>
            <a:pathLst>
              <a:path h="16696611" w="13588727">
                <a:moveTo>
                  <a:pt x="0" y="0"/>
                </a:moveTo>
                <a:lnTo>
                  <a:pt x="13588727" y="0"/>
                </a:lnTo>
                <a:lnTo>
                  <a:pt x="13588727" y="16696611"/>
                </a:lnTo>
                <a:lnTo>
                  <a:pt x="0" y="166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345" y="8492700"/>
            <a:ext cx="2522411" cy="2701376"/>
          </a:xfrm>
          <a:custGeom>
            <a:avLst/>
            <a:gdLst/>
            <a:ahLst/>
            <a:cxnLst/>
            <a:rect r="r" b="b" t="t" l="l"/>
            <a:pathLst>
              <a:path h="2701376" w="2522411">
                <a:moveTo>
                  <a:pt x="0" y="0"/>
                </a:moveTo>
                <a:lnTo>
                  <a:pt x="2522410" y="0"/>
                </a:lnTo>
                <a:lnTo>
                  <a:pt x="2522410" y="2701375"/>
                </a:lnTo>
                <a:lnTo>
                  <a:pt x="0" y="270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605691" y="-1231306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5"/>
                </a:moveTo>
                <a:lnTo>
                  <a:pt x="2522410" y="2701375"/>
                </a:lnTo>
                <a:lnTo>
                  <a:pt x="2522410" y="0"/>
                </a:lnTo>
                <a:lnTo>
                  <a:pt x="0" y="0"/>
                </a:lnTo>
                <a:lnTo>
                  <a:pt x="0" y="27013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80" y="847725"/>
            <a:ext cx="132588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60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PRÁCTICA 1: COMMIT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2331720"/>
            <a:ext cx="164592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START TRANSACTION → UPDATE (existencia − 2) → INSERT en ventas → COMMIT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246120"/>
            <a:ext cx="78638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Antes del COMMIT: existencia 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4466558"/>
            <a:ext cx="7863840" cy="2039683"/>
            <a:chOff x="0" y="0"/>
            <a:chExt cx="10485120" cy="2719578"/>
          </a:xfrm>
        </p:grpSpPr>
        <p:sp>
          <p:nvSpPr>
            <p:cNvPr name="Freeform 9" id="9" descr="Captura de MySQL Workbench"/>
            <p:cNvSpPr/>
            <p:nvPr/>
          </p:nvSpPr>
          <p:spPr>
            <a:xfrm flipH="false" flipV="false" rot="0">
              <a:off x="0" y="0"/>
              <a:ext cx="10485120" cy="2719578"/>
            </a:xfrm>
            <a:custGeom>
              <a:avLst/>
              <a:gdLst/>
              <a:ahLst/>
              <a:cxnLst/>
              <a:rect r="r" b="b" t="t" l="l"/>
              <a:pathLst>
                <a:path h="271957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719578"/>
                  </a:lnTo>
                  <a:lnTo>
                    <a:pt x="0" y="2719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509760" y="3246120"/>
            <a:ext cx="78638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Después del COMMIT: 1 venta y existencia 8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09760" y="4116924"/>
            <a:ext cx="7863840" cy="1641681"/>
            <a:chOff x="0" y="0"/>
            <a:chExt cx="10485120" cy="2188908"/>
          </a:xfrm>
        </p:grpSpPr>
        <p:sp>
          <p:nvSpPr>
            <p:cNvPr name="Freeform 12" id="12" descr="Captura de MySQL Workbench"/>
            <p:cNvSpPr/>
            <p:nvPr/>
          </p:nvSpPr>
          <p:spPr>
            <a:xfrm flipH="false" flipV="false" rot="0">
              <a:off x="0" y="0"/>
              <a:ext cx="10485120" cy="2188845"/>
            </a:xfrm>
            <a:custGeom>
              <a:avLst/>
              <a:gdLst/>
              <a:ahLst/>
              <a:cxnLst/>
              <a:rect r="r" b="b" t="t" l="l"/>
              <a:pathLst>
                <a:path h="2188845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88845"/>
                  </a:lnTo>
                  <a:lnTo>
                    <a:pt x="0" y="2188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91271" y="6309360"/>
            <a:ext cx="7300817" cy="2011680"/>
            <a:chOff x="0" y="0"/>
            <a:chExt cx="9734423" cy="2682240"/>
          </a:xfrm>
        </p:grpSpPr>
        <p:sp>
          <p:nvSpPr>
            <p:cNvPr name="Freeform 14" id="14" descr="Captura de MySQL Workbench"/>
            <p:cNvSpPr/>
            <p:nvPr/>
          </p:nvSpPr>
          <p:spPr>
            <a:xfrm flipH="false" flipV="false" rot="0">
              <a:off x="0" y="0"/>
              <a:ext cx="9734423" cy="2682240"/>
            </a:xfrm>
            <a:custGeom>
              <a:avLst/>
              <a:gdLst/>
              <a:ahLst/>
              <a:cxnLst/>
              <a:rect r="r" b="b" t="t" l="l"/>
              <a:pathLst>
                <a:path h="2682240" w="9734423">
                  <a:moveTo>
                    <a:pt x="0" y="0"/>
                  </a:moveTo>
                  <a:lnTo>
                    <a:pt x="9734423" y="0"/>
                  </a:lnTo>
                  <a:lnTo>
                    <a:pt x="9734423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8522" y="8579482"/>
            <a:ext cx="16490947" cy="877567"/>
            <a:chOff x="0" y="0"/>
            <a:chExt cx="21987929" cy="11700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88019" cy="1170178"/>
            </a:xfrm>
            <a:custGeom>
              <a:avLst/>
              <a:gdLst/>
              <a:ahLst/>
              <a:cxnLst/>
              <a:rect r="r" b="b" t="t" l="l"/>
              <a:pathLst>
                <a:path h="1170178" w="21988019">
                  <a:moveTo>
                    <a:pt x="0" y="140462"/>
                  </a:moveTo>
                  <a:cubicBezTo>
                    <a:pt x="0" y="62865"/>
                    <a:pt x="62865" y="0"/>
                    <a:pt x="140462" y="0"/>
                  </a:cubicBezTo>
                  <a:lnTo>
                    <a:pt x="21847556" y="0"/>
                  </a:lnTo>
                  <a:cubicBezTo>
                    <a:pt x="21925153" y="0"/>
                    <a:pt x="21988019" y="62865"/>
                    <a:pt x="21988019" y="140462"/>
                  </a:cubicBezTo>
                  <a:lnTo>
                    <a:pt x="21988019" y="1029716"/>
                  </a:lnTo>
                  <a:cubicBezTo>
                    <a:pt x="21988019" y="1107313"/>
                    <a:pt x="21925153" y="1170178"/>
                    <a:pt x="21847556" y="1170178"/>
                  </a:cubicBezTo>
                  <a:lnTo>
                    <a:pt x="140462" y="1170178"/>
                  </a:lnTo>
                  <a:cubicBezTo>
                    <a:pt x="62865" y="1170051"/>
                    <a:pt x="0" y="1107186"/>
                    <a:pt x="0" y="1029716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987929" cy="1170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Antes: 10 helados y 0 ventas  →  Después del COMMIT: 8 helados y 1 venta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72470" y="-1237393"/>
            <a:ext cx="13588727" cy="16696611"/>
          </a:xfrm>
          <a:custGeom>
            <a:avLst/>
            <a:gdLst/>
            <a:ahLst/>
            <a:cxnLst/>
            <a:rect r="r" b="b" t="t" l="l"/>
            <a:pathLst>
              <a:path h="16696611" w="13588727">
                <a:moveTo>
                  <a:pt x="0" y="0"/>
                </a:moveTo>
                <a:lnTo>
                  <a:pt x="13588727" y="0"/>
                </a:lnTo>
                <a:lnTo>
                  <a:pt x="13588727" y="16696611"/>
                </a:lnTo>
                <a:lnTo>
                  <a:pt x="0" y="166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345" y="8492700"/>
            <a:ext cx="2522411" cy="2701376"/>
          </a:xfrm>
          <a:custGeom>
            <a:avLst/>
            <a:gdLst/>
            <a:ahLst/>
            <a:cxnLst/>
            <a:rect r="r" b="b" t="t" l="l"/>
            <a:pathLst>
              <a:path h="2701376" w="2522411">
                <a:moveTo>
                  <a:pt x="0" y="0"/>
                </a:moveTo>
                <a:lnTo>
                  <a:pt x="2522410" y="0"/>
                </a:lnTo>
                <a:lnTo>
                  <a:pt x="2522410" y="2701375"/>
                </a:lnTo>
                <a:lnTo>
                  <a:pt x="0" y="270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605691" y="-1231306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5"/>
                </a:moveTo>
                <a:lnTo>
                  <a:pt x="2522410" y="2701375"/>
                </a:lnTo>
                <a:lnTo>
                  <a:pt x="2522410" y="0"/>
                </a:lnTo>
                <a:lnTo>
                  <a:pt x="0" y="0"/>
                </a:lnTo>
                <a:lnTo>
                  <a:pt x="0" y="27013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80" y="847725"/>
            <a:ext cx="132588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60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PRÁCTICA 2: ROLLBACK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2331720"/>
            <a:ext cx="164592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START TRANSACTION → UPDATE (existencia − 3) → INSERT en ventas → ROLLBACK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154680"/>
            <a:ext cx="78638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Antes del ROLLBACK: existencia 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3702158"/>
            <a:ext cx="7863840" cy="2196884"/>
            <a:chOff x="0" y="0"/>
            <a:chExt cx="10485120" cy="2929179"/>
          </a:xfrm>
        </p:grpSpPr>
        <p:sp>
          <p:nvSpPr>
            <p:cNvPr name="Freeform 9" id="9" descr="Captura de MySQL Workbench"/>
            <p:cNvSpPr/>
            <p:nvPr/>
          </p:nvSpPr>
          <p:spPr>
            <a:xfrm flipH="false" flipV="false" rot="0">
              <a:off x="0" y="0"/>
              <a:ext cx="10485120" cy="2929128"/>
            </a:xfrm>
            <a:custGeom>
              <a:avLst/>
              <a:gdLst/>
              <a:ahLst/>
              <a:cxnLst/>
              <a:rect r="r" b="b" t="t" l="l"/>
              <a:pathLst>
                <a:path h="2929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929128"/>
                  </a:lnTo>
                  <a:lnTo>
                    <a:pt x="0" y="2929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509760" y="3154680"/>
            <a:ext cx="78638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Antes del ROLLBACK: 2 ventas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09760" y="3918318"/>
            <a:ext cx="7863840" cy="1764563"/>
            <a:chOff x="0" y="0"/>
            <a:chExt cx="10485120" cy="2352751"/>
          </a:xfrm>
        </p:grpSpPr>
        <p:sp>
          <p:nvSpPr>
            <p:cNvPr name="Freeform 12" id="12" descr="Captura de MySQL Workbench"/>
            <p:cNvSpPr/>
            <p:nvPr/>
          </p:nvSpPr>
          <p:spPr>
            <a:xfrm flipH="false" flipV="false" rot="0">
              <a:off x="0" y="0"/>
              <a:ext cx="10485120" cy="2352802"/>
            </a:xfrm>
            <a:custGeom>
              <a:avLst/>
              <a:gdLst/>
              <a:ahLst/>
              <a:cxnLst/>
              <a:rect r="r" b="b" t="t" l="l"/>
              <a:pathLst>
                <a:path h="235280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352802"/>
                  </a:lnTo>
                  <a:lnTo>
                    <a:pt x="0" y="2352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14400" y="6172200"/>
            <a:ext cx="78638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Después del ROLLBACK: existencia 8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" y="6822700"/>
            <a:ext cx="7863840" cy="1990849"/>
            <a:chOff x="0" y="0"/>
            <a:chExt cx="10485120" cy="2654465"/>
          </a:xfrm>
        </p:grpSpPr>
        <p:sp>
          <p:nvSpPr>
            <p:cNvPr name="Freeform 15" id="15" descr="Captura de MySQL Workbench"/>
            <p:cNvSpPr/>
            <p:nvPr/>
          </p:nvSpPr>
          <p:spPr>
            <a:xfrm flipH="false" flipV="false" rot="0">
              <a:off x="0" y="0"/>
              <a:ext cx="10485120" cy="2654427"/>
            </a:xfrm>
            <a:custGeom>
              <a:avLst/>
              <a:gdLst/>
              <a:ahLst/>
              <a:cxnLst/>
              <a:rect r="r" b="b" t="t" l="l"/>
              <a:pathLst>
                <a:path h="2654427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654427"/>
                  </a:lnTo>
                  <a:lnTo>
                    <a:pt x="0" y="265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509760" y="6172200"/>
            <a:ext cx="78638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Después del ROLLBACK: 1 venta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09760" y="6998970"/>
            <a:ext cx="7863840" cy="1638300"/>
            <a:chOff x="0" y="0"/>
            <a:chExt cx="10485120" cy="2184400"/>
          </a:xfrm>
        </p:grpSpPr>
        <p:sp>
          <p:nvSpPr>
            <p:cNvPr name="Freeform 18" id="18" descr="Captura de MySQL Workbench"/>
            <p:cNvSpPr/>
            <p:nvPr/>
          </p:nvSpPr>
          <p:spPr>
            <a:xfrm flipH="false" flipV="false" rot="0">
              <a:off x="0" y="0"/>
              <a:ext cx="10485120" cy="2184400"/>
            </a:xfrm>
            <a:custGeom>
              <a:avLst/>
              <a:gdLst/>
              <a:ahLst/>
              <a:cxnLst/>
              <a:rect r="r" b="b" t="t" l="l"/>
              <a:pathLst>
                <a:path h="2184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84400"/>
                  </a:lnTo>
                  <a:lnTo>
                    <a:pt x="0" y="218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B3D">
                <a:alpha val="100000"/>
              </a:srgbClr>
            </a:gs>
            <a:gs pos="100000">
              <a:srgbClr val="003D6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82162" cy="441379"/>
          </a:xfrm>
          <a:custGeom>
            <a:avLst/>
            <a:gdLst/>
            <a:ahLst/>
            <a:cxnLst/>
            <a:rect r="r" b="b" t="t" l="l"/>
            <a:pathLst>
              <a:path h="441379" w="382162">
                <a:moveTo>
                  <a:pt x="0" y="0"/>
                </a:moveTo>
                <a:lnTo>
                  <a:pt x="382162" y="0"/>
                </a:lnTo>
                <a:lnTo>
                  <a:pt x="382162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6" t="0" r="-37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91235" y="7766923"/>
            <a:ext cx="14082008" cy="4737735"/>
          </a:xfrm>
          <a:custGeom>
            <a:avLst/>
            <a:gdLst/>
            <a:ahLst/>
            <a:cxnLst/>
            <a:rect r="r" b="b" t="t" l="l"/>
            <a:pathLst>
              <a:path h="4737735" w="14082008">
                <a:moveTo>
                  <a:pt x="0" y="0"/>
                </a:moveTo>
                <a:lnTo>
                  <a:pt x="14082007" y="0"/>
                </a:lnTo>
                <a:lnTo>
                  <a:pt x="14082007" y="4737735"/>
                </a:lnTo>
                <a:lnTo>
                  <a:pt x="0" y="4737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77261" y="4581039"/>
            <a:ext cx="9226448" cy="4677261"/>
          </a:xfrm>
          <a:custGeom>
            <a:avLst/>
            <a:gdLst/>
            <a:ahLst/>
            <a:cxnLst/>
            <a:rect r="r" b="b" t="t" l="l"/>
            <a:pathLst>
              <a:path h="4677261" w="9226448">
                <a:moveTo>
                  <a:pt x="0" y="0"/>
                </a:moveTo>
                <a:lnTo>
                  <a:pt x="9226449" y="0"/>
                </a:lnTo>
                <a:lnTo>
                  <a:pt x="9226449" y="4677261"/>
                </a:lnTo>
                <a:lnTo>
                  <a:pt x="0" y="4677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12864" y="3170234"/>
            <a:ext cx="6179791" cy="5634695"/>
            <a:chOff x="0" y="0"/>
            <a:chExt cx="8239722" cy="7512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39760" cy="7512939"/>
            </a:xfrm>
            <a:custGeom>
              <a:avLst/>
              <a:gdLst/>
              <a:ahLst/>
              <a:cxnLst/>
              <a:rect r="r" b="b" t="t" l="l"/>
              <a:pathLst>
                <a:path h="7512939" w="8239760">
                  <a:moveTo>
                    <a:pt x="0" y="0"/>
                  </a:moveTo>
                  <a:lnTo>
                    <a:pt x="8239760" y="0"/>
                  </a:lnTo>
                  <a:lnTo>
                    <a:pt x="8239760" y="7512939"/>
                  </a:lnTo>
                  <a:lnTo>
                    <a:pt x="0" y="7512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3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216600">
            <a:off x="1034720" y="3307871"/>
            <a:ext cx="6059748" cy="5129984"/>
            <a:chOff x="0" y="0"/>
            <a:chExt cx="8079664" cy="68399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79613" cy="6839966"/>
            </a:xfrm>
            <a:custGeom>
              <a:avLst/>
              <a:gdLst/>
              <a:ahLst/>
              <a:cxnLst/>
              <a:rect r="r" b="b" t="t" l="l"/>
              <a:pathLst>
                <a:path h="6839966" w="8079613">
                  <a:moveTo>
                    <a:pt x="8079613" y="3674872"/>
                  </a:moveTo>
                  <a:lnTo>
                    <a:pt x="5960618" y="6839966"/>
                  </a:lnTo>
                  <a:lnTo>
                    <a:pt x="1704467" y="6571488"/>
                  </a:lnTo>
                  <a:lnTo>
                    <a:pt x="0" y="3165094"/>
                  </a:lnTo>
                  <a:lnTo>
                    <a:pt x="2118995" y="0"/>
                  </a:lnTo>
                  <a:lnTo>
                    <a:pt x="6375273" y="268478"/>
                  </a:lnTo>
                  <a:lnTo>
                    <a:pt x="8079613" y="3674872"/>
                  </a:lnTo>
                  <a:close/>
                </a:path>
              </a:pathLst>
            </a:custGeom>
            <a:blipFill>
              <a:blip r:embed="rId9"/>
              <a:stretch>
                <a:fillRect l="-13492" t="0" r="-13493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736890" y="8069332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0"/>
                </a:moveTo>
                <a:lnTo>
                  <a:pt x="2522410" y="0"/>
                </a:lnTo>
                <a:lnTo>
                  <a:pt x="2522410" y="2701376"/>
                </a:lnTo>
                <a:lnTo>
                  <a:pt x="0" y="27013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8975331" y="8566699"/>
            <a:ext cx="4226738" cy="476469"/>
          </a:xfrm>
          <a:custGeom>
            <a:avLst/>
            <a:gdLst/>
            <a:ahLst/>
            <a:cxnLst/>
            <a:rect r="r" b="b" t="t" l="l"/>
            <a:pathLst>
              <a:path h="476469" w="4226738">
                <a:moveTo>
                  <a:pt x="4226738" y="0"/>
                </a:moveTo>
                <a:lnTo>
                  <a:pt x="0" y="0"/>
                </a:lnTo>
                <a:lnTo>
                  <a:pt x="0" y="476469"/>
                </a:lnTo>
                <a:lnTo>
                  <a:pt x="4226738" y="476469"/>
                </a:lnTo>
                <a:lnTo>
                  <a:pt x="422673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947" r="0" b="-94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01337" y="1003325"/>
            <a:ext cx="266325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Taller Base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7872" y="2185102"/>
            <a:ext cx="7771428" cy="121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78"/>
              </a:lnSpc>
            </a:pPr>
            <a:r>
              <a:rPr lang="en-US" sz="7998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CONCLUSIÓN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728510" y="3918214"/>
            <a:ext cx="8546659" cy="3116018"/>
            <a:chOff x="0" y="0"/>
            <a:chExt cx="11395545" cy="41546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95583" cy="4154678"/>
            </a:xfrm>
            <a:custGeom>
              <a:avLst/>
              <a:gdLst/>
              <a:ahLst/>
              <a:cxnLst/>
              <a:rect r="r" b="b" t="t" l="l"/>
              <a:pathLst>
                <a:path h="4154678" w="11395583">
                  <a:moveTo>
                    <a:pt x="0" y="498602"/>
                  </a:moveTo>
                  <a:cubicBezTo>
                    <a:pt x="0" y="223266"/>
                    <a:pt x="223266" y="0"/>
                    <a:pt x="498602" y="0"/>
                  </a:cubicBezTo>
                  <a:lnTo>
                    <a:pt x="10896981" y="0"/>
                  </a:lnTo>
                  <a:cubicBezTo>
                    <a:pt x="11172317" y="0"/>
                    <a:pt x="11395583" y="223266"/>
                    <a:pt x="11395583" y="498602"/>
                  </a:cubicBezTo>
                  <a:lnTo>
                    <a:pt x="11395583" y="3656076"/>
                  </a:lnTo>
                  <a:cubicBezTo>
                    <a:pt x="11395583" y="3931412"/>
                    <a:pt x="11172317" y="4154678"/>
                    <a:pt x="10896981" y="4154678"/>
                  </a:cubicBezTo>
                  <a:lnTo>
                    <a:pt x="498602" y="4154678"/>
                  </a:lnTo>
                  <a:cubicBezTo>
                    <a:pt x="223266" y="4154678"/>
                    <a:pt x="0" y="3931539"/>
                    <a:pt x="0" y="3656076"/>
                  </a:cubicBezTo>
                  <a:close/>
                </a:path>
              </a:pathLst>
            </a:custGeom>
            <a:solidFill>
              <a:srgbClr val="071B45">
                <a:alpha val="35686"/>
              </a:srgbClr>
            </a:solidFill>
            <a:ln w="31750" cap="sq">
              <a:solidFill>
                <a:srgbClr val="1BC4D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395545" cy="4202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40"/>
                </a:lnSpc>
              </a:pPr>
              <a:r>
                <a:rPr lang="en-US" sz="2600" b="true">
                  <a:solidFill>
                    <a:srgbClr val="A5D9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Las transacciones mantienen unidas las operaciones relacionadas. ACID protege contra operaciones incompletas, reglas rotas, interferencias y pérdidas. COMMIT confirma los cambios y ROLLBACK cancela los pendientes.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202698" y="3981717"/>
            <a:ext cx="2070554" cy="500043"/>
          </a:xfrm>
          <a:custGeom>
            <a:avLst/>
            <a:gdLst/>
            <a:ahLst/>
            <a:cxnLst/>
            <a:rect r="r" b="b" t="t" l="l"/>
            <a:pathLst>
              <a:path h="500043" w="2070554">
                <a:moveTo>
                  <a:pt x="0" y="0"/>
                </a:moveTo>
                <a:lnTo>
                  <a:pt x="2070554" y="0"/>
                </a:lnTo>
                <a:lnTo>
                  <a:pt x="2070554" y="500043"/>
                </a:lnTo>
                <a:lnTo>
                  <a:pt x="0" y="500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71282" r="0" b="-171282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5202698" y="-32356"/>
            <a:ext cx="2070554" cy="2217458"/>
          </a:xfrm>
          <a:custGeom>
            <a:avLst/>
            <a:gdLst/>
            <a:ahLst/>
            <a:cxnLst/>
            <a:rect r="r" b="b" t="t" l="l"/>
            <a:pathLst>
              <a:path h="2217458" w="2070554">
                <a:moveTo>
                  <a:pt x="0" y="2217458"/>
                </a:moveTo>
                <a:lnTo>
                  <a:pt x="2070554" y="2217458"/>
                </a:lnTo>
                <a:lnTo>
                  <a:pt x="2070554" y="0"/>
                </a:lnTo>
                <a:lnTo>
                  <a:pt x="0" y="0"/>
                </a:lnTo>
                <a:lnTo>
                  <a:pt x="0" y="2217458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00" t="0" r="-10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72470" y="-1237393"/>
            <a:ext cx="13588727" cy="16696611"/>
          </a:xfrm>
          <a:custGeom>
            <a:avLst/>
            <a:gdLst/>
            <a:ahLst/>
            <a:cxnLst/>
            <a:rect r="r" b="b" t="t" l="l"/>
            <a:pathLst>
              <a:path h="16696611" w="13588727">
                <a:moveTo>
                  <a:pt x="0" y="0"/>
                </a:moveTo>
                <a:lnTo>
                  <a:pt x="13588727" y="0"/>
                </a:lnTo>
                <a:lnTo>
                  <a:pt x="13588727" y="16696611"/>
                </a:lnTo>
                <a:lnTo>
                  <a:pt x="0" y="166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345" y="8492700"/>
            <a:ext cx="2522411" cy="2701376"/>
          </a:xfrm>
          <a:custGeom>
            <a:avLst/>
            <a:gdLst/>
            <a:ahLst/>
            <a:cxnLst/>
            <a:rect r="r" b="b" t="t" l="l"/>
            <a:pathLst>
              <a:path h="2701376" w="2522411">
                <a:moveTo>
                  <a:pt x="0" y="0"/>
                </a:moveTo>
                <a:lnTo>
                  <a:pt x="2522410" y="0"/>
                </a:lnTo>
                <a:lnTo>
                  <a:pt x="2522410" y="2701375"/>
                </a:lnTo>
                <a:lnTo>
                  <a:pt x="0" y="270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605691" y="-1231306"/>
            <a:ext cx="2522410" cy="2701376"/>
          </a:xfrm>
          <a:custGeom>
            <a:avLst/>
            <a:gdLst/>
            <a:ahLst/>
            <a:cxnLst/>
            <a:rect r="r" b="b" t="t" l="l"/>
            <a:pathLst>
              <a:path h="2701376" w="2522410">
                <a:moveTo>
                  <a:pt x="0" y="2701375"/>
                </a:moveTo>
                <a:lnTo>
                  <a:pt x="2522410" y="2701375"/>
                </a:lnTo>
                <a:lnTo>
                  <a:pt x="2522410" y="0"/>
                </a:lnTo>
                <a:lnTo>
                  <a:pt x="0" y="0"/>
                </a:lnTo>
                <a:lnTo>
                  <a:pt x="0" y="27013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4" r="0" b="-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80" y="847725"/>
            <a:ext cx="132588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6000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REFERENCIAS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5840" y="2788920"/>
            <a:ext cx="15819120" cy="667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Elmasri, R., &amp; Navathe, S. B. (2016). </a:t>
            </a:r>
            <a:r>
              <a:rPr lang="en-US" sz="21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Fundamentals of database systems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(7th ed.). Pearson.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Oracle. (s. f.-a). </a:t>
            </a:r>
            <a:r>
              <a:rPr lang="en-US" sz="21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START TRANSACTION, COMMIT, and ROLLBACK statements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[MySQL 8.4 Reference Manual]. https://dev.mysql.com/doc/refman/8.4/en/commit.html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Oracle. (s. f.-b). </a:t>
            </a:r>
            <a:r>
              <a:rPr lang="en-US" sz="21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InnoDB transaction isolation levels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[MySQL 8.4 Reference Manual]. https://dev.mysql.com/doc/refman/8.4/en/innodb-transaction-isolation-levels.html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PostgreSQL Global Development Group. (s. f.-a). </a:t>
            </a:r>
            <a:r>
              <a:rPr lang="en-US" sz="21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Introduction to MVCC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[PostgreSQL 16 documentation]. https://www.postgresql.org/docs/16/mvcc-intro.html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PostgreSQL Global Development Group. (s. f.-b). </a:t>
            </a:r>
            <a:r>
              <a:rPr lang="en-US" sz="21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Transaction isolation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[PostgreSQL 16 documentation]. https://www.postgresql.org/docs/16/transaction-iso.html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Silberschatz, A., Korth, H. F., &amp; Sudarshan, S. (2019). </a:t>
            </a:r>
            <a:r>
              <a:rPr lang="en-US" sz="21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Database system concepts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(7th ed.). McGraw Hill.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D69">
                <a:alpha val="100000"/>
              </a:srgbClr>
            </a:gs>
            <a:gs pos="100000">
              <a:srgbClr val="000B3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82162" cy="441379"/>
          </a:xfrm>
          <a:custGeom>
            <a:avLst/>
            <a:gdLst/>
            <a:ahLst/>
            <a:cxnLst/>
            <a:rect r="r" b="b" t="t" l="l"/>
            <a:pathLst>
              <a:path h="441379" w="382162">
                <a:moveTo>
                  <a:pt x="0" y="0"/>
                </a:moveTo>
                <a:lnTo>
                  <a:pt x="382162" y="0"/>
                </a:lnTo>
                <a:lnTo>
                  <a:pt x="382162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6" t="0" r="-37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1337" y="1003325"/>
            <a:ext cx="317891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true">
                <a:solidFill>
                  <a:srgbClr val="D9D9D9"/>
                </a:solidFill>
                <a:latin typeface="Inter Bold"/>
                <a:ea typeface="Inter Bold"/>
                <a:cs typeface="Inter Bold"/>
                <a:sym typeface="Inter Bold"/>
              </a:rPr>
              <a:t>Taller Base de Datos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511577" y="2290648"/>
            <a:ext cx="17071496" cy="5363356"/>
          </a:xfrm>
          <a:custGeom>
            <a:avLst/>
            <a:gdLst/>
            <a:ahLst/>
            <a:cxnLst/>
            <a:rect r="r" b="b" t="t" l="l"/>
            <a:pathLst>
              <a:path h="5363356" w="17071496">
                <a:moveTo>
                  <a:pt x="0" y="0"/>
                </a:moveTo>
                <a:lnTo>
                  <a:pt x="17071495" y="0"/>
                </a:lnTo>
                <a:lnTo>
                  <a:pt x="17071495" y="5363356"/>
                </a:lnTo>
                <a:lnTo>
                  <a:pt x="0" y="5363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233596"/>
            <a:ext cx="13535120" cy="201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10"/>
              </a:lnSpc>
            </a:pPr>
            <a:r>
              <a:rPr lang="en-US" sz="15897" b="true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GRACIAS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337705" y="7654004"/>
            <a:ext cx="2458555" cy="2632996"/>
          </a:xfrm>
          <a:custGeom>
            <a:avLst/>
            <a:gdLst/>
            <a:ahLst/>
            <a:cxnLst/>
            <a:rect r="r" b="b" t="t" l="l"/>
            <a:pathLst>
              <a:path h="2632996" w="2458555">
                <a:moveTo>
                  <a:pt x="0" y="0"/>
                </a:moveTo>
                <a:lnTo>
                  <a:pt x="2458555" y="0"/>
                </a:lnTo>
                <a:lnTo>
                  <a:pt x="2458555" y="2632996"/>
                </a:lnTo>
                <a:lnTo>
                  <a:pt x="0" y="2632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7" t="0" r="-6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4800745" y="-1162917"/>
            <a:ext cx="2458555" cy="2632996"/>
          </a:xfrm>
          <a:custGeom>
            <a:avLst/>
            <a:gdLst/>
            <a:ahLst/>
            <a:cxnLst/>
            <a:rect r="r" b="b" t="t" l="l"/>
            <a:pathLst>
              <a:path h="2632996" w="2458555">
                <a:moveTo>
                  <a:pt x="0" y="2632996"/>
                </a:moveTo>
                <a:lnTo>
                  <a:pt x="2458555" y="2632996"/>
                </a:lnTo>
                <a:lnTo>
                  <a:pt x="2458555" y="0"/>
                </a:lnTo>
                <a:lnTo>
                  <a:pt x="0" y="0"/>
                </a:lnTo>
                <a:lnTo>
                  <a:pt x="0" y="263299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7" t="0" r="-68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800745" y="4749717"/>
            <a:ext cx="1659893" cy="787565"/>
          </a:xfrm>
          <a:custGeom>
            <a:avLst/>
            <a:gdLst/>
            <a:ahLst/>
            <a:cxnLst/>
            <a:rect r="r" b="b" t="t" l="l"/>
            <a:pathLst>
              <a:path h="787565" w="1659893">
                <a:moveTo>
                  <a:pt x="1659893" y="0"/>
                </a:moveTo>
                <a:lnTo>
                  <a:pt x="0" y="0"/>
                </a:lnTo>
                <a:lnTo>
                  <a:pt x="0" y="787566"/>
                </a:lnTo>
                <a:lnTo>
                  <a:pt x="1659893" y="787566"/>
                </a:lnTo>
                <a:lnTo>
                  <a:pt x="16598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8" t="0" r="-18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DAHYtkvbyP0</dc:identifier>
  <dcterms:modified xsi:type="dcterms:W3CDTF">2011-08-01T06:04:30Z</dcterms:modified>
  <cp:revision>1</cp:revision>
  <dc:title>Taller Base de Datos</dc:title>
</cp:coreProperties>
</file>